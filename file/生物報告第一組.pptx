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5143500" cx="9144000"/>
  <p:notesSz cx="6858000" cy="9144000"/>
  <p:embeddedFontLst>
    <p:embeddedFont>
      <p:font typeface="Robot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1492ABB-B14B-451E-A26A-50B93598235F}">
  <a:tblStyle styleId="{01492ABB-B14B-451E-A26A-50B93598235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11" Type="http://schemas.openxmlformats.org/officeDocument/2006/relationships/slide" Target="slides/slide5.xml"/><Relationship Id="rId22" Type="http://schemas.openxmlformats.org/officeDocument/2006/relationships/font" Target="fonts/Roboto-italic.fntdata"/><Relationship Id="rId10" Type="http://schemas.openxmlformats.org/officeDocument/2006/relationships/slide" Target="slides/slide4.xml"/><Relationship Id="rId21" Type="http://schemas.openxmlformats.org/officeDocument/2006/relationships/font" Target="fonts/Roboto-bold.fntdata"/><Relationship Id="rId13" Type="http://schemas.openxmlformats.org/officeDocument/2006/relationships/slide" Target="slides/slide7.xml"/><Relationship Id="rId12" Type="http://schemas.openxmlformats.org/officeDocument/2006/relationships/slide" Target="slides/slide6.xml"/><Relationship Id="rId23" Type="http://schemas.openxmlformats.org/officeDocument/2006/relationships/font" Target="fonts/Robo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47f2dcfd03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247f2dcfd03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47f48ee66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247f48ee66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47f48ee664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247f48ee664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247f48ee664_2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247f48ee664_2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47f48ee664_2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47f48ee664_2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47f2dcfd0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47f2dcfd0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4a90008b91_7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4a90008b91_7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486cf7aaaa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486cf7aaaa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4a90008b91_7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24a90008b91_7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e3727b2b9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e3727b2b9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e3727b2b97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1e3727b2b9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4a90008b91_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4a90008b91_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zh-T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med">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5.jpg"/></Relationships>
</file>

<file path=ppt/slides/_rels/slide8.xml.rels><?xml version="1.0" encoding="UTF-8" standalone="yes"?><Relationships xmlns="http://schemas.openxmlformats.org/package/2006/relationships"><Relationship Id="rId11" Type="http://schemas.openxmlformats.org/officeDocument/2006/relationships/hyperlink" Target="https://zh.wikipedia.org/wiki/%E8%83%8E%E7%94%9F" TargetMode="External"/><Relationship Id="rId10" Type="http://schemas.openxmlformats.org/officeDocument/2006/relationships/hyperlink" Target="https://zh.wikipedia.org/wiki/%E5%8D%B5%E8%83%8E%E7%94%9F" TargetMode="External"/><Relationship Id="rId13" Type="http://schemas.openxmlformats.org/officeDocument/2006/relationships/hyperlink" Target="https://zh.wikipedia.org/wiki/%E9%B3%94" TargetMode="External"/><Relationship Id="rId12" Type="http://schemas.openxmlformats.org/officeDocument/2006/relationships/hyperlink" Target="https://zh.wikipedia.org/wiki/%E9%AA%A8%E9%AA%BC" TargetMode="External"/><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hyperlink" Target="https://zh.wikipedia.org/wiki/%E9%B2%A8%E9%B1%BC" TargetMode="External"/><Relationship Id="rId4" Type="http://schemas.openxmlformats.org/officeDocument/2006/relationships/hyperlink" Target="https://zh.wikipedia.org/wiki/%E7%87%95%E9%AD%9F%E7%9B%AE" TargetMode="External"/><Relationship Id="rId9" Type="http://schemas.openxmlformats.org/officeDocument/2006/relationships/hyperlink" Target="https://zh.wikipedia.org/wiki/%E5%8D%B5%E7%94%9F" TargetMode="External"/><Relationship Id="rId5" Type="http://schemas.openxmlformats.org/officeDocument/2006/relationships/hyperlink" Target="https://zh.wikipedia.org/wiki/%E9%B3%90%E7%9B%AE" TargetMode="External"/><Relationship Id="rId6" Type="http://schemas.openxmlformats.org/officeDocument/2006/relationships/hyperlink" Target="https://zh.wikipedia.org/zh-tw/%E9%8B%B8%E9%B0%A9%E7%9B%AE" TargetMode="External"/><Relationship Id="rId7" Type="http://schemas.openxmlformats.org/officeDocument/2006/relationships/hyperlink" Target="https://zh.wikipedia.org/wiki/%E7%89%99%E9%BD%BF" TargetMode="External"/><Relationship Id="rId8" Type="http://schemas.openxmlformats.org/officeDocument/2006/relationships/hyperlink" Target="https://zh.wikipedia.org/wiki/%E8%BD%AF%E9%AA%A8"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zh.wikipedia.org/wiki/%E6%8D%B2%E7%BA%8F%E5%B0%BE"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hyperlink" Target="https://zh.wikipedia.org/wiki/%E6%B5%B7%E5%B9%B3%E9%9D%A2" TargetMode="External"/><Relationship Id="rId4" Type="http://schemas.openxmlformats.org/officeDocument/2006/relationships/hyperlink" Target="https://zh.wikipedia.org/wiki/%E9%B0%BE" TargetMode="External"/><Relationship Id="rId5" Type="http://schemas.openxmlformats.org/officeDocument/2006/relationships/hyperlink" Target="https://zh.wikipedia.org/wiki/%E6%B5%AE%E5%8A%9B" TargetMode="External"/><Relationship Id="rId6" Type="http://schemas.openxmlformats.org/officeDocument/2006/relationships/hyperlink" Target="https://zh.wikipedia.org/wiki/%E5%AF%86%E5%BA%A6" TargetMode="External"/><Relationship Id="rId7"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hyperlink" Target="https://zh.m.wikipedia.org/wiki/%E7%A9%BA%E6%B0%94" TargetMode="External"/><Relationship Id="rId5" Type="http://schemas.openxmlformats.org/officeDocument/2006/relationships/hyperlink" Target="https://zh.m.wikipedia.org/wiki/%E6%B0%A7%E6%B0%94" TargetMode="External"/><Relationship Id="rId6" Type="http://schemas.openxmlformats.org/officeDocument/2006/relationships/hyperlink" Target="https://zh.m.wikipedia.org/wiki/%E6%AF%94%E9%87%8D" TargetMode="External"/></Relationships>
</file>

<file path=ppt/slides/_rels/slide12.xml.rels><?xml version="1.0" encoding="UTF-8" standalone="yes"?><Relationships xmlns="http://schemas.openxmlformats.org/package/2006/relationships"><Relationship Id="rId11" Type="http://schemas.openxmlformats.org/officeDocument/2006/relationships/hyperlink" Target="https://icook.tw/search/%E9%A3%9F%E6%9D%90%EF%BC%9A%E9%86%AC%E6%B2%B9/" TargetMode="External"/><Relationship Id="rId10" Type="http://schemas.openxmlformats.org/officeDocument/2006/relationships/hyperlink" Target="https://icook.tw/search/%E9%A3%9F%E6%9D%90%EF%BC%9A%E7%B1%B3%E9%85%92/" TargetMode="External"/><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hyperlink" Target="https://icook.tw/search/%E9%A3%9F%E6%9D%90%EF%BC%9A%E7%83%8F%E9%AD%9A%E8%86%98/" TargetMode="External"/><Relationship Id="rId9" Type="http://schemas.openxmlformats.org/officeDocument/2006/relationships/hyperlink" Target="https://icook.tw/search/%E9%A3%9F%E6%9D%90%EF%BC%9A%E8%91%B5%E8%8A%B1%E6%B2%B9%EF%BC%88%E6%88%96%E6%A9%84%E6%AC%96%E6%B2%B9%EF%BC%89/" TargetMode="External"/><Relationship Id="rId5" Type="http://schemas.openxmlformats.org/officeDocument/2006/relationships/hyperlink" Target="https://icook.tw/search/%E9%A3%9F%E6%9D%90%EF%BC%9A%E8%80%81%E8%96%91%E5%88%87%E7%89%87/" TargetMode="External"/><Relationship Id="rId6" Type="http://schemas.openxmlformats.org/officeDocument/2006/relationships/hyperlink" Target="https://icook.tw/search/%E9%A3%9F%E6%9D%90%EF%BC%9A%E8%92%9C%E9%A0%AD%E5%88%87%E7%89%87/" TargetMode="External"/><Relationship Id="rId7" Type="http://schemas.openxmlformats.org/officeDocument/2006/relationships/hyperlink" Target="https://icook.tw/search/%E9%A3%9F%E6%9D%90%EF%BC%9A%E8%92%9C%E8%8B%97%E5%88%87%E6%96%9C%E7%89%87/" TargetMode="External"/><Relationship Id="rId8" Type="http://schemas.openxmlformats.org/officeDocument/2006/relationships/hyperlink" Target="https://icook.tw/search/%E9%A3%9F%E6%9D%90%EF%BC%9A%E9%BA%BB%E6%B2%B9/"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2.jpg"/><Relationship Id="rId4"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66" name="Shape 66"/>
        <p:cNvGrpSpPr/>
        <p:nvPr/>
      </p:nvGrpSpPr>
      <p:grpSpPr>
        <a:xfrm>
          <a:off x="0" y="0"/>
          <a:ext cx="0" cy="0"/>
          <a:chOff x="0" y="0"/>
          <a:chExt cx="0" cy="0"/>
        </a:xfrm>
      </p:grpSpPr>
      <p:sp>
        <p:nvSpPr>
          <p:cNvPr id="67" name="Google Shape;67;p13"/>
          <p:cNvSpPr txBox="1"/>
          <p:nvPr>
            <p:ph type="ctrTitle"/>
          </p:nvPr>
        </p:nvSpPr>
        <p:spPr>
          <a:xfrm>
            <a:off x="390525" y="1819275"/>
            <a:ext cx="8222100" cy="933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zh-TW" sz="7200">
                <a:solidFill>
                  <a:srgbClr val="F1C232"/>
                </a:solidFill>
              </a:rPr>
              <a:t>生物報告</a:t>
            </a:r>
            <a:r>
              <a:rPr lang="zh-TW"/>
              <a:t> </a:t>
            </a:r>
            <a:r>
              <a:rPr lang="zh-TW" sz="3600">
                <a:solidFill>
                  <a:schemeClr val="accent5"/>
                </a:solidFill>
              </a:rPr>
              <a:t>第一組</a:t>
            </a:r>
            <a:endParaRPr sz="3600">
              <a:solidFill>
                <a:schemeClr val="accent5"/>
              </a:solidFill>
            </a:endParaRPr>
          </a:p>
        </p:txBody>
      </p:sp>
      <p:sp>
        <p:nvSpPr>
          <p:cNvPr id="68" name="Google Shape;68;p13"/>
          <p:cNvSpPr txBox="1"/>
          <p:nvPr>
            <p:ph idx="1" type="subTitle"/>
          </p:nvPr>
        </p:nvSpPr>
        <p:spPr>
          <a:xfrm>
            <a:off x="3123300" y="4475700"/>
            <a:ext cx="6020700" cy="66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solidFill>
                  <a:srgbClr val="DD7E6B"/>
                </a:solidFill>
              </a:rPr>
              <a:t>1.丁胤誠、2.李宥霖、4.洪嘉成、5.徐瑞揚、6.郭子豪</a:t>
            </a:r>
            <a:endParaRPr>
              <a:solidFill>
                <a:srgbClr val="DD7E6B"/>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4"/>
          <p:cNvSpPr txBox="1"/>
          <p:nvPr/>
        </p:nvSpPr>
        <p:spPr>
          <a:xfrm>
            <a:off x="215000" y="1563425"/>
            <a:ext cx="4288800" cy="27705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2400">
                <a:solidFill>
                  <a:srgbClr val="FF00FF"/>
                </a:solidFill>
              </a:rPr>
              <a:t>∗</a:t>
            </a:r>
            <a:r>
              <a:rPr lang="zh-TW" sz="2400">
                <a:solidFill>
                  <a:srgbClr val="FF00FF"/>
                </a:solidFill>
              </a:rPr>
              <a:t>魚類泛指動物界脊索動物門脊椎動物亞門中整個生命周期都依賴鰓進行呼吸並用鰭活動的水生動物</a:t>
            </a:r>
            <a:endParaRPr sz="2400">
              <a:solidFill>
                <a:srgbClr val="FF00FF"/>
              </a:solidFill>
            </a:endParaRPr>
          </a:p>
          <a:p>
            <a:pPr indent="0" lvl="0" marL="0" rtl="0" algn="l">
              <a:spcBef>
                <a:spcPts val="0"/>
              </a:spcBef>
              <a:spcAft>
                <a:spcPts val="0"/>
              </a:spcAft>
              <a:buNone/>
            </a:pPr>
            <a:r>
              <a:rPr lang="zh-TW" sz="2400">
                <a:solidFill>
                  <a:srgbClr val="FF00FF"/>
                </a:solidFill>
              </a:rPr>
              <a:t>魚類共通的特徵是有鰓的水生動物，缺乏四肢及肢末端的指，且皮膚表層含有細毛。</a:t>
            </a:r>
            <a:endParaRPr sz="2400">
              <a:solidFill>
                <a:srgbClr val="FF00FF"/>
              </a:solidFill>
            </a:endParaRPr>
          </a:p>
        </p:txBody>
      </p:sp>
      <p:sp>
        <p:nvSpPr>
          <p:cNvPr id="74" name="Google Shape;74;p14"/>
          <p:cNvSpPr txBox="1"/>
          <p:nvPr/>
        </p:nvSpPr>
        <p:spPr>
          <a:xfrm>
            <a:off x="1199300" y="455225"/>
            <a:ext cx="5834700" cy="11082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6000">
                <a:solidFill>
                  <a:srgbClr val="FF9900"/>
                </a:solidFill>
              </a:rPr>
              <a:t>魚類的共同特性</a:t>
            </a:r>
            <a:endParaRPr sz="6000">
              <a:solidFill>
                <a:srgbClr val="FF9900"/>
              </a:solidFill>
            </a:endParaRPr>
          </a:p>
        </p:txBody>
      </p:sp>
      <p:pic>
        <p:nvPicPr>
          <p:cNvPr id="75" name="Google Shape;75;p14"/>
          <p:cNvPicPr preferRelativeResize="0"/>
          <p:nvPr/>
        </p:nvPicPr>
        <p:blipFill>
          <a:blip r:embed="rId3">
            <a:alphaModFix/>
          </a:blip>
          <a:stretch>
            <a:fillRect/>
          </a:stretch>
        </p:blipFill>
        <p:spPr>
          <a:xfrm>
            <a:off x="4572000" y="1639625"/>
            <a:ext cx="4188960" cy="2618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
                                        </p:tgtEl>
                                        <p:attrNameLst>
                                          <p:attrName>style.visibility</p:attrName>
                                        </p:attrNameLst>
                                      </p:cBhvr>
                                      <p:to>
                                        <p:strVal val="visible"/>
                                      </p:to>
                                    </p:set>
                                    <p:animEffect filter="fade" transition="in">
                                      <p:cBhvr>
                                        <p:cTn dur="400"/>
                                        <p:tgtEl>
                                          <p:spTgt spid="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73"/>
                                        </p:tgtEl>
                                        <p:attrNameLst>
                                          <p:attrName>style.visibility</p:attrName>
                                        </p:attrNameLst>
                                      </p:cBhvr>
                                      <p:to>
                                        <p:strVal val="visible"/>
                                      </p:to>
                                    </p:set>
                                    <p:anim calcmode="lin" valueType="num">
                                      <p:cBhvr additive="base">
                                        <p:cTn dur="1000"/>
                                        <p:tgtEl>
                                          <p:spTgt spid="7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75"/>
                                        </p:tgtEl>
                                        <p:attrNameLst>
                                          <p:attrName>style.visibility</p:attrName>
                                        </p:attrNameLst>
                                      </p:cBhvr>
                                      <p:to>
                                        <p:strVal val="visible"/>
                                      </p:to>
                                    </p:set>
                                    <p:anim calcmode="lin" valueType="num">
                                      <p:cBhvr additive="base">
                                        <p:cTn dur="1000"/>
                                        <p:tgtEl>
                                          <p:spTgt spid="75"/>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5"/>
          <p:cNvSpPr txBox="1"/>
          <p:nvPr/>
        </p:nvSpPr>
        <p:spPr>
          <a:xfrm>
            <a:off x="118725" y="1291925"/>
            <a:ext cx="35334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000"/>
          </a:p>
        </p:txBody>
      </p:sp>
      <p:sp>
        <p:nvSpPr>
          <p:cNvPr id="81" name="Google Shape;81;p15"/>
          <p:cNvSpPr txBox="1"/>
          <p:nvPr>
            <p:ph idx="4294967295" type="title"/>
          </p:nvPr>
        </p:nvSpPr>
        <p:spPr>
          <a:xfrm>
            <a:off x="289700" y="465425"/>
            <a:ext cx="5570700" cy="826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zh-TW" sz="6000">
                <a:solidFill>
                  <a:schemeClr val="accent1"/>
                </a:solidFill>
              </a:rPr>
              <a:t>魚類的四個特性</a:t>
            </a:r>
            <a:endParaRPr sz="6000">
              <a:solidFill>
                <a:schemeClr val="accent1"/>
              </a:solidFill>
            </a:endParaRPr>
          </a:p>
        </p:txBody>
      </p:sp>
      <p:sp>
        <p:nvSpPr>
          <p:cNvPr id="82" name="Google Shape;82;p15"/>
          <p:cNvSpPr txBox="1"/>
          <p:nvPr/>
        </p:nvSpPr>
        <p:spPr>
          <a:xfrm>
            <a:off x="289700" y="1534025"/>
            <a:ext cx="2971500" cy="969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zh-TW" sz="3600">
                <a:solidFill>
                  <a:srgbClr val="FF00FF"/>
                </a:solidFill>
                <a:highlight>
                  <a:srgbClr val="FFFFFF"/>
                </a:highlight>
              </a:rPr>
              <a:t>1、趨溫性</a:t>
            </a:r>
            <a:endParaRPr sz="3600">
              <a:solidFill>
                <a:srgbClr val="FF00FF"/>
              </a:solidFill>
            </a:endParaRPr>
          </a:p>
        </p:txBody>
      </p:sp>
      <p:sp>
        <p:nvSpPr>
          <p:cNvPr id="83" name="Google Shape;83;p15"/>
          <p:cNvSpPr txBox="1"/>
          <p:nvPr/>
        </p:nvSpPr>
        <p:spPr>
          <a:xfrm>
            <a:off x="217100" y="2503025"/>
            <a:ext cx="2490300" cy="646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3600">
              <a:solidFill>
                <a:schemeClr val="accent5"/>
              </a:solidFill>
            </a:endParaRPr>
          </a:p>
        </p:txBody>
      </p:sp>
      <p:pic>
        <p:nvPicPr>
          <p:cNvPr id="84" name="Google Shape;84;p15"/>
          <p:cNvPicPr preferRelativeResize="0"/>
          <p:nvPr/>
        </p:nvPicPr>
        <p:blipFill>
          <a:blip r:embed="rId3">
            <a:alphaModFix/>
          </a:blip>
          <a:stretch>
            <a:fillRect/>
          </a:stretch>
        </p:blipFill>
        <p:spPr>
          <a:xfrm>
            <a:off x="3804525" y="1444325"/>
            <a:ext cx="5187075" cy="3354309"/>
          </a:xfrm>
          <a:prstGeom prst="rect">
            <a:avLst/>
          </a:prstGeom>
          <a:noFill/>
          <a:ln>
            <a:noFill/>
          </a:ln>
        </p:spPr>
      </p:pic>
      <p:sp>
        <p:nvSpPr>
          <p:cNvPr id="85" name="Google Shape;85;p15"/>
          <p:cNvSpPr txBox="1"/>
          <p:nvPr/>
        </p:nvSpPr>
        <p:spPr>
          <a:xfrm>
            <a:off x="289700" y="2400300"/>
            <a:ext cx="3533400" cy="213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zh-TW" sz="2800">
                <a:solidFill>
                  <a:schemeClr val="accent5"/>
                </a:solidFill>
                <a:highlight>
                  <a:srgbClr val="FFFFFF"/>
                </a:highlight>
              </a:rPr>
              <a:t>趨溫性(thermotaxis)是指</a:t>
            </a:r>
            <a:r>
              <a:rPr lang="zh-TW" sz="2800">
                <a:solidFill>
                  <a:schemeClr val="accent5"/>
                </a:solidFill>
              </a:rPr>
              <a:t>細胞會根據溫度而前進的一種現象</a:t>
            </a:r>
            <a:r>
              <a:rPr lang="zh-TW" sz="2800">
                <a:solidFill>
                  <a:schemeClr val="accent5"/>
                </a:solidFill>
                <a:highlight>
                  <a:srgbClr val="FFFFFF"/>
                </a:highlight>
              </a:rPr>
              <a:t>。 趨溫性亦可能是指溫度調節。</a:t>
            </a:r>
            <a:endParaRPr sz="2800">
              <a:solidFill>
                <a:schemeClr val="accent5"/>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
                                        </p:tgtEl>
                                        <p:attrNameLst>
                                          <p:attrName>style.visibility</p:attrName>
                                        </p:attrNameLst>
                                      </p:cBhvr>
                                      <p:to>
                                        <p:strVal val="visible"/>
                                      </p:to>
                                    </p:set>
                                    <p:animEffect filter="fade" transition="in">
                                      <p:cBhvr>
                                        <p:cTn dur="1000"/>
                                        <p:tgtEl>
                                          <p:spTgt spid="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82"/>
                                        </p:tgtEl>
                                        <p:attrNameLst>
                                          <p:attrName>style.visibility</p:attrName>
                                        </p:attrNameLst>
                                      </p:cBhvr>
                                      <p:to>
                                        <p:strVal val="visible"/>
                                      </p:to>
                                    </p:set>
                                    <p:anim calcmode="lin" valueType="num">
                                      <p:cBhvr additive="base">
                                        <p:cTn dur="1500"/>
                                        <p:tgtEl>
                                          <p:spTgt spid="8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85"/>
                                        </p:tgtEl>
                                        <p:attrNameLst>
                                          <p:attrName>style.visibility</p:attrName>
                                        </p:attrNameLst>
                                      </p:cBhvr>
                                      <p:to>
                                        <p:strVal val="visible"/>
                                      </p:to>
                                    </p:set>
                                    <p:anim calcmode="lin" valueType="num">
                                      <p:cBhvr additive="base">
                                        <p:cTn dur="1000"/>
                                        <p:tgtEl>
                                          <p:spTgt spid="8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4"/>
                                        </p:tgtEl>
                                        <p:attrNameLst>
                                          <p:attrName>style.visibility</p:attrName>
                                        </p:attrNameLst>
                                      </p:cBhvr>
                                      <p:to>
                                        <p:strVal val="visible"/>
                                      </p:to>
                                    </p:set>
                                    <p:anim calcmode="lin" valueType="num">
                                      <p:cBhvr additive="base">
                                        <p:cTn dur="1000"/>
                                        <p:tgtEl>
                                          <p:spTgt spid="8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9" name="Shape 89"/>
        <p:cNvGrpSpPr/>
        <p:nvPr/>
      </p:nvGrpSpPr>
      <p:grpSpPr>
        <a:xfrm>
          <a:off x="0" y="0"/>
          <a:ext cx="0" cy="0"/>
          <a:chOff x="0" y="0"/>
          <a:chExt cx="0" cy="0"/>
        </a:xfrm>
      </p:grpSpPr>
      <p:sp>
        <p:nvSpPr>
          <p:cNvPr id="90" name="Google Shape;90;p16"/>
          <p:cNvSpPr txBox="1"/>
          <p:nvPr/>
        </p:nvSpPr>
        <p:spPr>
          <a:xfrm>
            <a:off x="224400" y="1368000"/>
            <a:ext cx="3538200" cy="339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3600">
                <a:solidFill>
                  <a:schemeClr val="accent5"/>
                </a:solidFill>
                <a:highlight>
                  <a:srgbClr val="FFFFFF"/>
                </a:highlight>
              </a:rPr>
              <a:t>2、逆水性</a:t>
            </a:r>
            <a:endParaRPr sz="3600">
              <a:solidFill>
                <a:schemeClr val="accent5"/>
              </a:solidFill>
              <a:highlight>
                <a:srgbClr val="FFFFFF"/>
              </a:highlight>
            </a:endParaRPr>
          </a:p>
          <a:p>
            <a:pPr indent="0" lvl="0" marL="0" marR="38100" rtl="0" algn="l">
              <a:lnSpc>
                <a:spcPct val="114285"/>
              </a:lnSpc>
              <a:spcBef>
                <a:spcPts val="0"/>
              </a:spcBef>
              <a:spcAft>
                <a:spcPts val="0"/>
              </a:spcAft>
              <a:buNone/>
            </a:pPr>
            <a:r>
              <a:rPr lang="zh-TW" sz="2200">
                <a:solidFill>
                  <a:srgbClr val="BF9000"/>
                </a:solidFill>
                <a:highlight>
                  <a:srgbClr val="F7F7F7"/>
                </a:highlight>
                <a:latin typeface="Microsoft JhengHei"/>
                <a:ea typeface="Microsoft JhengHei"/>
                <a:cs typeface="Microsoft JhengHei"/>
                <a:sym typeface="Microsoft JhengHei"/>
              </a:rPr>
              <a:t>魚逆流而上，努力回到自己呆過的優質的水源地。再有就是魚逆流時，可以更好的方便進食，如果順流，進食會變得非常困難。</a:t>
            </a:r>
            <a:endParaRPr sz="2200">
              <a:highlight>
                <a:srgbClr val="F7F7F7"/>
              </a:highlight>
            </a:endParaRPr>
          </a:p>
          <a:p>
            <a:pPr indent="0" lvl="0" marL="0" marR="38100" rtl="0" algn="l">
              <a:lnSpc>
                <a:spcPct val="114285"/>
              </a:lnSpc>
              <a:spcBef>
                <a:spcPts val="0"/>
              </a:spcBef>
              <a:spcAft>
                <a:spcPts val="0"/>
              </a:spcAft>
              <a:buNone/>
            </a:pPr>
            <a:r>
              <a:t/>
            </a:r>
            <a:endParaRPr sz="2200">
              <a:solidFill>
                <a:srgbClr val="BF9000"/>
              </a:solidFill>
              <a:highlight>
                <a:srgbClr val="F7F7F7"/>
              </a:highlight>
              <a:latin typeface="Microsoft JhengHei"/>
              <a:ea typeface="Microsoft JhengHei"/>
              <a:cs typeface="Microsoft JhengHei"/>
              <a:sym typeface="Microsoft JhengHei"/>
            </a:endParaRPr>
          </a:p>
        </p:txBody>
      </p:sp>
      <p:sp>
        <p:nvSpPr>
          <p:cNvPr id="91" name="Google Shape;91;p16"/>
          <p:cNvSpPr txBox="1"/>
          <p:nvPr>
            <p:ph type="title"/>
          </p:nvPr>
        </p:nvSpPr>
        <p:spPr>
          <a:xfrm>
            <a:off x="333275" y="581650"/>
            <a:ext cx="5570700" cy="826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zh-TW" sz="6000">
                <a:solidFill>
                  <a:schemeClr val="accent1"/>
                </a:solidFill>
              </a:rPr>
              <a:t>魚類的四個特性</a:t>
            </a:r>
            <a:endParaRPr sz="6000">
              <a:solidFill>
                <a:schemeClr val="accent1"/>
              </a:solidFill>
            </a:endParaRPr>
          </a:p>
        </p:txBody>
      </p:sp>
      <p:pic>
        <p:nvPicPr>
          <p:cNvPr id="92" name="Google Shape;92;p16"/>
          <p:cNvPicPr preferRelativeResize="0"/>
          <p:nvPr/>
        </p:nvPicPr>
        <p:blipFill>
          <a:blip r:embed="rId3">
            <a:alphaModFix/>
          </a:blip>
          <a:stretch>
            <a:fillRect/>
          </a:stretch>
        </p:blipFill>
        <p:spPr>
          <a:xfrm>
            <a:off x="3762600" y="1546025"/>
            <a:ext cx="4584606" cy="3430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gtEl>
                                        <p:attrNameLst>
                                          <p:attrName>style.visibility</p:attrName>
                                        </p:attrNameLst>
                                      </p:cBhvr>
                                      <p:to>
                                        <p:strVal val="visible"/>
                                      </p:to>
                                    </p:set>
                                    <p:animEffect filter="fade" transition="in">
                                      <p:cBhvr>
                                        <p:cTn dur="1000"/>
                                        <p:tgtEl>
                                          <p:spTgt spid="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
                                        </p:tgtEl>
                                        <p:attrNameLst>
                                          <p:attrName>style.visibility</p:attrName>
                                        </p:attrNameLst>
                                      </p:cBhvr>
                                      <p:to>
                                        <p:strVal val="visible"/>
                                      </p:to>
                                    </p:set>
                                    <p:animEffect filter="fade" transition="in">
                                      <p:cBhvr>
                                        <p:cTn dur="1000"/>
                                        <p:tgtEl>
                                          <p:spTgt spid="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92"/>
                                        </p:tgtEl>
                                        <p:attrNameLst>
                                          <p:attrName>style.visibility</p:attrName>
                                        </p:attrNameLst>
                                      </p:cBhvr>
                                      <p:to>
                                        <p:strVal val="visible"/>
                                      </p:to>
                                    </p:set>
                                    <p:anim calcmode="lin" valueType="num">
                                      <p:cBhvr additive="base">
                                        <p:cTn dur="1000"/>
                                        <p:tgtEl>
                                          <p:spTgt spid="92"/>
                                        </p:tgtEl>
                                        <p:attrNameLst>
                                          <p:attrName>ppt_w</p:attrName>
                                        </p:attrNameLst>
                                      </p:cBhvr>
                                      <p:tavLst>
                                        <p:tav fmla="" tm="0">
                                          <p:val>
                                            <p:strVal val="0"/>
                                          </p:val>
                                        </p:tav>
                                        <p:tav fmla="" tm="100000">
                                          <p:val>
                                            <p:strVal val="#ppt_w"/>
                                          </p:val>
                                        </p:tav>
                                      </p:tavLst>
                                    </p:anim>
                                    <p:anim calcmode="lin" valueType="num">
                                      <p:cBhvr additive="base">
                                        <p:cTn dur="1000"/>
                                        <p:tgtEl>
                                          <p:spTgt spid="92"/>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7"/>
          <p:cNvSpPr txBox="1"/>
          <p:nvPr>
            <p:ph idx="4294967295" type="title"/>
          </p:nvPr>
        </p:nvSpPr>
        <p:spPr>
          <a:xfrm>
            <a:off x="289700" y="465425"/>
            <a:ext cx="5570700" cy="826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zh-TW" sz="6000">
                <a:solidFill>
                  <a:schemeClr val="accent1"/>
                </a:solidFill>
              </a:rPr>
              <a:t>魚類的四個特性</a:t>
            </a:r>
            <a:endParaRPr sz="6000">
              <a:solidFill>
                <a:schemeClr val="accent1"/>
              </a:solidFill>
            </a:endParaRPr>
          </a:p>
        </p:txBody>
      </p:sp>
      <p:sp>
        <p:nvSpPr>
          <p:cNvPr id="98" name="Google Shape;98;p17"/>
          <p:cNvSpPr txBox="1"/>
          <p:nvPr/>
        </p:nvSpPr>
        <p:spPr>
          <a:xfrm>
            <a:off x="367275" y="1658550"/>
            <a:ext cx="2345100" cy="577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zh-TW" sz="3600">
                <a:solidFill>
                  <a:srgbClr val="B45F06"/>
                </a:solidFill>
                <a:highlight>
                  <a:srgbClr val="FFFFFF"/>
                </a:highlight>
              </a:rPr>
              <a:t>3、洄游性</a:t>
            </a:r>
            <a:endParaRPr sz="3600">
              <a:solidFill>
                <a:srgbClr val="B45F06"/>
              </a:solidFill>
            </a:endParaRPr>
          </a:p>
        </p:txBody>
      </p:sp>
      <p:pic>
        <p:nvPicPr>
          <p:cNvPr id="99" name="Google Shape;99;p17"/>
          <p:cNvPicPr preferRelativeResize="0"/>
          <p:nvPr/>
        </p:nvPicPr>
        <p:blipFill>
          <a:blip r:embed="rId3">
            <a:alphaModFix/>
          </a:blip>
          <a:stretch>
            <a:fillRect/>
          </a:stretch>
        </p:blipFill>
        <p:spPr>
          <a:xfrm>
            <a:off x="3476350" y="1535300"/>
            <a:ext cx="5204026" cy="3455800"/>
          </a:xfrm>
          <a:prstGeom prst="rect">
            <a:avLst/>
          </a:prstGeom>
          <a:noFill/>
          <a:ln>
            <a:noFill/>
          </a:ln>
        </p:spPr>
      </p:pic>
      <p:sp>
        <p:nvSpPr>
          <p:cNvPr id="100" name="Google Shape;100;p17"/>
          <p:cNvSpPr txBox="1"/>
          <p:nvPr/>
        </p:nvSpPr>
        <p:spPr>
          <a:xfrm>
            <a:off x="289700" y="2236050"/>
            <a:ext cx="3000000" cy="228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zh-TW" sz="3000">
                <a:solidFill>
                  <a:srgbClr val="D5A6BD"/>
                </a:solidFill>
              </a:rPr>
              <a:t>在生活史中或世代之間循一定路線往返遷移的魚類</a:t>
            </a:r>
            <a:r>
              <a:rPr lang="zh-TW" sz="3000">
                <a:solidFill>
                  <a:srgbClr val="D5A6BD"/>
                </a:solidFill>
                <a:highlight>
                  <a:srgbClr val="FFFFFF"/>
                </a:highlight>
              </a:rPr>
              <a:t>。</a:t>
            </a:r>
            <a:endParaRPr sz="3000">
              <a:solidFill>
                <a:srgbClr val="D5A6BD"/>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gtEl>
                                        <p:attrNameLst>
                                          <p:attrName>style.visibility</p:attrName>
                                        </p:attrNameLst>
                                      </p:cBhvr>
                                      <p:to>
                                        <p:strVal val="visible"/>
                                      </p:to>
                                    </p:set>
                                    <p:animEffect filter="fade" transition="in">
                                      <p:cBhvr>
                                        <p:cTn dur="1000"/>
                                        <p:tgtEl>
                                          <p:spTgt spid="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98"/>
                                        </p:tgtEl>
                                        <p:attrNameLst>
                                          <p:attrName>style.visibility</p:attrName>
                                        </p:attrNameLst>
                                      </p:cBhvr>
                                      <p:to>
                                        <p:strVal val="visible"/>
                                      </p:to>
                                    </p:set>
                                    <p:anim calcmode="lin" valueType="num">
                                      <p:cBhvr additive="base">
                                        <p:cTn dur="1000"/>
                                        <p:tgtEl>
                                          <p:spTgt spid="9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
                                        </p:tgtEl>
                                        <p:attrNameLst>
                                          <p:attrName>style.visibility</p:attrName>
                                        </p:attrNameLst>
                                      </p:cBhvr>
                                      <p:to>
                                        <p:strVal val="visible"/>
                                      </p:to>
                                    </p:set>
                                    <p:anim calcmode="lin" valueType="num">
                                      <p:cBhvr additive="base">
                                        <p:cTn dur="1000"/>
                                        <p:tgtEl>
                                          <p:spTgt spid="10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9"/>
                                        </p:tgtEl>
                                        <p:attrNameLst>
                                          <p:attrName>style.visibility</p:attrName>
                                        </p:attrNameLst>
                                      </p:cBhvr>
                                      <p:to>
                                        <p:strVal val="visible"/>
                                      </p:to>
                                    </p:set>
                                    <p:anim calcmode="lin" valueType="num">
                                      <p:cBhvr additive="base">
                                        <p:cTn dur="1000"/>
                                        <p:tgtEl>
                                          <p:spTgt spid="9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8"/>
          <p:cNvSpPr txBox="1"/>
          <p:nvPr>
            <p:ph idx="4294967295" type="title"/>
          </p:nvPr>
        </p:nvSpPr>
        <p:spPr>
          <a:xfrm>
            <a:off x="289700" y="465425"/>
            <a:ext cx="5570700" cy="826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zh-TW" sz="6000">
                <a:solidFill>
                  <a:schemeClr val="accent1"/>
                </a:solidFill>
              </a:rPr>
              <a:t>魚類的四個特性</a:t>
            </a:r>
            <a:endParaRPr sz="6000">
              <a:solidFill>
                <a:schemeClr val="accent1"/>
              </a:solidFill>
            </a:endParaRPr>
          </a:p>
        </p:txBody>
      </p:sp>
      <p:sp>
        <p:nvSpPr>
          <p:cNvPr id="106" name="Google Shape;106;p18"/>
          <p:cNvSpPr txBox="1"/>
          <p:nvPr/>
        </p:nvSpPr>
        <p:spPr>
          <a:xfrm>
            <a:off x="132975" y="1444325"/>
            <a:ext cx="3134700" cy="3309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zh-TW" sz="3600">
                <a:solidFill>
                  <a:srgbClr val="38761D"/>
                </a:solidFill>
                <a:highlight>
                  <a:srgbClr val="FFFFFF"/>
                </a:highlight>
              </a:rPr>
              <a:t>4、群游性</a:t>
            </a:r>
            <a:endParaRPr sz="3600">
              <a:solidFill>
                <a:srgbClr val="38761D"/>
              </a:solidFill>
              <a:highlight>
                <a:srgbClr val="FFFFFF"/>
              </a:highlight>
            </a:endParaRPr>
          </a:p>
          <a:p>
            <a:pPr indent="0" lvl="0" marL="0" marR="38100" rtl="0" algn="l">
              <a:lnSpc>
                <a:spcPct val="114285"/>
              </a:lnSpc>
              <a:spcBef>
                <a:spcPts val="0"/>
              </a:spcBef>
              <a:spcAft>
                <a:spcPts val="0"/>
              </a:spcAft>
              <a:buNone/>
            </a:pPr>
            <a:r>
              <a:rPr lang="zh-TW" sz="2200">
                <a:solidFill>
                  <a:schemeClr val="accent6"/>
                </a:solidFill>
                <a:highlight>
                  <a:srgbClr val="F8F9FA"/>
                </a:highlight>
              </a:rPr>
              <a:t>群遊有2個原因，一是因為品種比較弱，成群游動便於發現天敵，及時逃跑；二是成群活動有利於及時找到食物，或者群體行動攻擊分食，不至於挨餓。</a:t>
            </a:r>
            <a:endParaRPr sz="2200">
              <a:solidFill>
                <a:schemeClr val="accent6"/>
              </a:solidFill>
              <a:highlight>
                <a:srgbClr val="F8F9FA"/>
              </a:highlight>
            </a:endParaRPr>
          </a:p>
          <a:p>
            <a:pPr indent="0" lvl="0" marL="0" rtl="0" algn="l">
              <a:spcBef>
                <a:spcPts val="0"/>
              </a:spcBef>
              <a:spcAft>
                <a:spcPts val="0"/>
              </a:spcAft>
              <a:buNone/>
            </a:pPr>
            <a:r>
              <a:t/>
            </a:r>
            <a:endParaRPr sz="1100">
              <a:solidFill>
                <a:schemeClr val="accent6"/>
              </a:solidFill>
              <a:highlight>
                <a:srgbClr val="FFFFFF"/>
              </a:highlight>
              <a:latin typeface="Microsoft Yahei"/>
              <a:ea typeface="Microsoft Yahei"/>
              <a:cs typeface="Microsoft Yahei"/>
              <a:sym typeface="Microsoft Yahei"/>
            </a:endParaRPr>
          </a:p>
        </p:txBody>
      </p:sp>
      <p:pic>
        <p:nvPicPr>
          <p:cNvPr id="107" name="Google Shape;107;p18"/>
          <p:cNvPicPr preferRelativeResize="0"/>
          <p:nvPr/>
        </p:nvPicPr>
        <p:blipFill>
          <a:blip r:embed="rId3">
            <a:alphaModFix/>
          </a:blip>
          <a:stretch>
            <a:fillRect/>
          </a:stretch>
        </p:blipFill>
        <p:spPr>
          <a:xfrm>
            <a:off x="3426425" y="1444325"/>
            <a:ext cx="5306895" cy="3546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6"/>
                                        </p:tgtEl>
                                        <p:attrNameLst>
                                          <p:attrName>style.visibility</p:attrName>
                                        </p:attrNameLst>
                                      </p:cBhvr>
                                      <p:to>
                                        <p:strVal val="visible"/>
                                      </p:to>
                                    </p:set>
                                    <p:anim calcmode="lin" valueType="num">
                                      <p:cBhvr additive="base">
                                        <p:cTn dur="1000"/>
                                        <p:tgtEl>
                                          <p:spTgt spid="10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07"/>
                                        </p:tgtEl>
                                        <p:attrNameLst>
                                          <p:attrName>style.visibility</p:attrName>
                                        </p:attrNameLst>
                                      </p:cBhvr>
                                      <p:to>
                                        <p:strVal val="visible"/>
                                      </p:to>
                                    </p:set>
                                    <p:anim calcmode="lin" valueType="num">
                                      <p:cBhvr additive="base">
                                        <p:cTn dur="1000"/>
                                        <p:tgtEl>
                                          <p:spTgt spid="107"/>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9"/>
          <p:cNvSpPr txBox="1"/>
          <p:nvPr/>
        </p:nvSpPr>
        <p:spPr>
          <a:xfrm>
            <a:off x="342900" y="411475"/>
            <a:ext cx="49254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6000">
                <a:solidFill>
                  <a:srgbClr val="B45F06"/>
                </a:solidFill>
              </a:rPr>
              <a:t>魚為什麼會游</a:t>
            </a:r>
            <a:endParaRPr sz="6000">
              <a:solidFill>
                <a:srgbClr val="B45F06"/>
              </a:solidFill>
            </a:endParaRPr>
          </a:p>
        </p:txBody>
      </p:sp>
      <p:sp>
        <p:nvSpPr>
          <p:cNvPr id="113" name="Google Shape;113;p19"/>
          <p:cNvSpPr txBox="1"/>
          <p:nvPr/>
        </p:nvSpPr>
        <p:spPr>
          <a:xfrm>
            <a:off x="415525" y="1519675"/>
            <a:ext cx="4852800" cy="331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zh-TW" sz="2800">
                <a:solidFill>
                  <a:srgbClr val="1C4587"/>
                </a:solidFill>
              </a:rPr>
              <a:t>※</a:t>
            </a:r>
            <a:r>
              <a:rPr lang="zh-TW" sz="2800">
                <a:solidFill>
                  <a:srgbClr val="1C4587"/>
                </a:solidFill>
              </a:rPr>
              <a:t>魚</a:t>
            </a:r>
            <a:r>
              <a:rPr lang="zh-TW" sz="2800">
                <a:solidFill>
                  <a:srgbClr val="1C4587"/>
                </a:solidFill>
                <a:highlight>
                  <a:srgbClr val="FFFFFF"/>
                </a:highlight>
              </a:rPr>
              <a:t>因為有鰓可以在水裏呼吸（想像人在空氣中呼吸，以及為何人</a:t>
            </a:r>
            <a:r>
              <a:rPr lang="zh-TW" sz="2800">
                <a:solidFill>
                  <a:srgbClr val="1C4587"/>
                </a:solidFill>
              </a:rPr>
              <a:t>會</a:t>
            </a:r>
            <a:r>
              <a:rPr lang="zh-TW" sz="2800">
                <a:solidFill>
                  <a:srgbClr val="1C4587"/>
                </a:solidFill>
                <a:highlight>
                  <a:srgbClr val="FFFFFF"/>
                </a:highlight>
              </a:rPr>
              <a:t>溺水），有浮鰾可以升降（想像潛水艇可以自由升降），有許多部位的鰭可以控制方向（想像船舵或木槳的功能），所以可以自在的悠游水中。</a:t>
            </a:r>
            <a:endParaRPr sz="2800">
              <a:solidFill>
                <a:srgbClr val="1C4587"/>
              </a:solidFill>
            </a:endParaRPr>
          </a:p>
        </p:txBody>
      </p:sp>
      <p:pic>
        <p:nvPicPr>
          <p:cNvPr id="114" name="Google Shape;114;p19"/>
          <p:cNvPicPr preferRelativeResize="0"/>
          <p:nvPr/>
        </p:nvPicPr>
        <p:blipFill>
          <a:blip r:embed="rId3">
            <a:alphaModFix/>
          </a:blip>
          <a:stretch>
            <a:fillRect/>
          </a:stretch>
        </p:blipFill>
        <p:spPr>
          <a:xfrm>
            <a:off x="5268300" y="1608078"/>
            <a:ext cx="3825050" cy="253518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3"/>
                                        </p:tgtEl>
                                        <p:attrNameLst>
                                          <p:attrName>style.visibility</p:attrName>
                                        </p:attrNameLst>
                                      </p:cBhvr>
                                      <p:to>
                                        <p:strVal val="visible"/>
                                      </p:to>
                                    </p:set>
                                    <p:anim calcmode="lin" valueType="num">
                                      <p:cBhvr additive="base">
                                        <p:cTn dur="1000"/>
                                        <p:tgtEl>
                                          <p:spTgt spid="11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14"/>
                                        </p:tgtEl>
                                        <p:attrNameLst>
                                          <p:attrName>style.visibility</p:attrName>
                                        </p:attrNameLst>
                                      </p:cBhvr>
                                      <p:to>
                                        <p:strVal val="visible"/>
                                      </p:to>
                                    </p:set>
                                    <p:anim calcmode="lin" valueType="num">
                                      <p:cBhvr additive="base">
                                        <p:cTn dur="1000"/>
                                        <p:tgtEl>
                                          <p:spTgt spid="11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0"/>
          <p:cNvSpPr txBox="1"/>
          <p:nvPr/>
        </p:nvSpPr>
        <p:spPr>
          <a:xfrm>
            <a:off x="0" y="76275"/>
            <a:ext cx="67938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4000">
                <a:solidFill>
                  <a:srgbClr val="449C2B"/>
                </a:solidFill>
                <a:latin typeface="Roboto"/>
                <a:ea typeface="Roboto"/>
                <a:cs typeface="Roboto"/>
                <a:sym typeface="Roboto"/>
              </a:rPr>
              <a:t>軟骨魚</a:t>
            </a:r>
            <a:endParaRPr sz="4000">
              <a:solidFill>
                <a:srgbClr val="449C2B"/>
              </a:solidFill>
              <a:latin typeface="Roboto"/>
              <a:ea typeface="Roboto"/>
              <a:cs typeface="Roboto"/>
              <a:sym typeface="Roboto"/>
            </a:endParaRPr>
          </a:p>
          <a:p>
            <a:pPr indent="0" lvl="0" marL="0" rtl="0" algn="l">
              <a:spcBef>
                <a:spcPts val="0"/>
              </a:spcBef>
              <a:spcAft>
                <a:spcPts val="0"/>
              </a:spcAft>
              <a:buNone/>
            </a:pPr>
            <a:r>
              <a:rPr lang="zh-TW" sz="4000">
                <a:solidFill>
                  <a:srgbClr val="449C2B"/>
                </a:solidFill>
                <a:latin typeface="Roboto"/>
                <a:ea typeface="Roboto"/>
                <a:cs typeface="Roboto"/>
                <a:sym typeface="Roboto"/>
              </a:rPr>
              <a:t>(</a:t>
            </a:r>
            <a:r>
              <a:rPr lang="zh-TW" sz="4000">
                <a:solidFill>
                  <a:srgbClr val="449C2B"/>
                </a:solidFill>
                <a:highlight>
                  <a:srgbClr val="FFFFFF"/>
                </a:highlight>
                <a:uFill>
                  <a:noFill/>
                </a:uFill>
                <a:hlinkClick r:id="rId3">
                  <a:extLst>
                    <a:ext uri="{A12FA001-AC4F-418D-AE19-62706E023703}">
                      <ahyp:hlinkClr val="tx"/>
                    </a:ext>
                  </a:extLst>
                </a:hlinkClick>
              </a:rPr>
              <a:t>鯊魚</a:t>
            </a:r>
            <a:r>
              <a:rPr lang="zh-TW" sz="4000">
                <a:solidFill>
                  <a:srgbClr val="449C2B"/>
                </a:solidFill>
                <a:highlight>
                  <a:srgbClr val="FFFFFF"/>
                </a:highlight>
              </a:rPr>
              <a:t>、</a:t>
            </a:r>
            <a:r>
              <a:rPr lang="zh-TW" sz="4000">
                <a:solidFill>
                  <a:srgbClr val="449C2B"/>
                </a:solidFill>
                <a:highlight>
                  <a:srgbClr val="FFFFFF"/>
                </a:highlight>
                <a:uFill>
                  <a:noFill/>
                </a:uFill>
                <a:hlinkClick r:id="rId4">
                  <a:extLst>
                    <a:ext uri="{A12FA001-AC4F-418D-AE19-62706E023703}">
                      <ahyp:hlinkClr val="tx"/>
                    </a:ext>
                  </a:extLst>
                </a:hlinkClick>
              </a:rPr>
              <a:t>魟</a:t>
            </a:r>
            <a:r>
              <a:rPr lang="zh-TW" sz="4000">
                <a:solidFill>
                  <a:srgbClr val="449C2B"/>
                </a:solidFill>
                <a:highlight>
                  <a:srgbClr val="FFFFFF"/>
                </a:highlight>
              </a:rPr>
              <a:t>、</a:t>
            </a:r>
            <a:r>
              <a:rPr lang="zh-TW" sz="4000">
                <a:solidFill>
                  <a:srgbClr val="449C2B"/>
                </a:solidFill>
                <a:highlight>
                  <a:srgbClr val="FFFFFF"/>
                </a:highlight>
                <a:uFill>
                  <a:noFill/>
                </a:uFill>
                <a:hlinkClick r:id="rId5">
                  <a:extLst>
                    <a:ext uri="{A12FA001-AC4F-418D-AE19-62706E023703}">
                      <ahyp:hlinkClr val="tx"/>
                    </a:ext>
                  </a:extLst>
                </a:hlinkClick>
              </a:rPr>
              <a:t>鰩</a:t>
            </a:r>
            <a:r>
              <a:rPr lang="zh-TW" sz="4000">
                <a:solidFill>
                  <a:srgbClr val="449C2B"/>
                </a:solidFill>
                <a:highlight>
                  <a:srgbClr val="FFFFFF"/>
                </a:highlight>
              </a:rPr>
              <a:t>、</a:t>
            </a:r>
            <a:r>
              <a:rPr lang="zh-TW" sz="4000">
                <a:solidFill>
                  <a:srgbClr val="449C2B"/>
                </a:solidFill>
                <a:highlight>
                  <a:srgbClr val="FFFFFF"/>
                </a:highlight>
                <a:uFill>
                  <a:noFill/>
                </a:uFill>
                <a:hlinkClick r:id="rId6">
                  <a:extLst>
                    <a:ext uri="{A12FA001-AC4F-418D-AE19-62706E023703}">
                      <ahyp:hlinkClr val="tx"/>
                    </a:ext>
                  </a:extLst>
                </a:hlinkClick>
              </a:rPr>
              <a:t>鋸鰩</a:t>
            </a:r>
            <a:r>
              <a:rPr lang="zh-TW" sz="4000">
                <a:solidFill>
                  <a:srgbClr val="449C2B"/>
                </a:solidFill>
                <a:latin typeface="Roboto"/>
                <a:ea typeface="Roboto"/>
                <a:cs typeface="Roboto"/>
                <a:sym typeface="Roboto"/>
              </a:rPr>
              <a:t>)</a:t>
            </a:r>
            <a:endParaRPr sz="4000">
              <a:solidFill>
                <a:srgbClr val="449C2B"/>
              </a:solidFill>
              <a:latin typeface="Roboto"/>
              <a:ea typeface="Roboto"/>
              <a:cs typeface="Roboto"/>
              <a:sym typeface="Roboto"/>
            </a:endParaRPr>
          </a:p>
        </p:txBody>
      </p:sp>
      <p:sp>
        <p:nvSpPr>
          <p:cNvPr id="120" name="Google Shape;120;p20"/>
          <p:cNvSpPr txBox="1"/>
          <p:nvPr/>
        </p:nvSpPr>
        <p:spPr>
          <a:xfrm>
            <a:off x="113975" y="1492275"/>
            <a:ext cx="4049700" cy="323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TW" sz="2200">
                <a:solidFill>
                  <a:srgbClr val="FF00FF"/>
                </a:solidFill>
                <a:highlight>
                  <a:srgbClr val="FFFFFF"/>
                </a:highlight>
              </a:rPr>
              <a:t>骨魚綱</a:t>
            </a:r>
            <a:r>
              <a:rPr lang="zh-TW" sz="2200">
                <a:solidFill>
                  <a:srgbClr val="FF00FF"/>
                </a:solidFill>
                <a:highlight>
                  <a:srgbClr val="FFFFFF"/>
                </a:highlight>
              </a:rPr>
              <a:t>（學名：Chondrichthyes），除了</a:t>
            </a:r>
            <a:r>
              <a:rPr lang="zh-TW" sz="2200">
                <a:solidFill>
                  <a:srgbClr val="FF00FF"/>
                </a:solidFill>
                <a:highlight>
                  <a:srgbClr val="FFFFFF"/>
                </a:highlight>
                <a:uFill>
                  <a:noFill/>
                </a:uFill>
                <a:hlinkClick r:id="rId7">
                  <a:extLst>
                    <a:ext uri="{A12FA001-AC4F-418D-AE19-62706E023703}">
                      <ahyp:hlinkClr val="tx"/>
                    </a:ext>
                  </a:extLst>
                </a:hlinkClick>
              </a:rPr>
              <a:t>牙齒</a:t>
            </a:r>
            <a:r>
              <a:rPr lang="zh-TW" sz="2200">
                <a:solidFill>
                  <a:srgbClr val="FF00FF"/>
                </a:solidFill>
                <a:highlight>
                  <a:srgbClr val="FFFFFF"/>
                </a:highlight>
              </a:rPr>
              <a:t>為硬骨外，骨骼全部由</a:t>
            </a:r>
            <a:r>
              <a:rPr lang="zh-TW" sz="2200">
                <a:solidFill>
                  <a:srgbClr val="FF00FF"/>
                </a:solidFill>
                <a:highlight>
                  <a:srgbClr val="FFFFFF"/>
                </a:highlight>
                <a:uFill>
                  <a:noFill/>
                </a:uFill>
                <a:hlinkClick r:id="rId8">
                  <a:extLst>
                    <a:ext uri="{A12FA001-AC4F-418D-AE19-62706E023703}">
                      <ahyp:hlinkClr val="tx"/>
                    </a:ext>
                  </a:extLst>
                </a:hlinkClick>
              </a:rPr>
              <a:t>軟骨</a:t>
            </a:r>
            <a:r>
              <a:rPr lang="zh-TW" sz="2200">
                <a:solidFill>
                  <a:srgbClr val="FF00FF"/>
                </a:solidFill>
                <a:highlight>
                  <a:srgbClr val="FFFFFF"/>
                </a:highlight>
              </a:rPr>
              <a:t>組成，體被盾鱗或無鱗；鰓裂每側5－7個；雄性的腹鰭里側具有鰭腳；尾鰭呈歪尾型；腸具有螺旋瓣；無鰾；具有鰓裂；軟骨魚類的生殖方式是體內受精，</a:t>
            </a:r>
            <a:r>
              <a:rPr lang="zh-TW" sz="2200">
                <a:solidFill>
                  <a:srgbClr val="FF00FF"/>
                </a:solidFill>
                <a:highlight>
                  <a:srgbClr val="FFFFFF"/>
                </a:highlight>
                <a:uFill>
                  <a:noFill/>
                </a:uFill>
                <a:hlinkClick r:id="rId9">
                  <a:extLst>
                    <a:ext uri="{A12FA001-AC4F-418D-AE19-62706E023703}">
                      <ahyp:hlinkClr val="tx"/>
                    </a:ext>
                  </a:extLst>
                </a:hlinkClick>
              </a:rPr>
              <a:t>卵生</a:t>
            </a:r>
            <a:r>
              <a:rPr lang="zh-TW" sz="2200">
                <a:solidFill>
                  <a:srgbClr val="FF00FF"/>
                </a:solidFill>
                <a:highlight>
                  <a:srgbClr val="FFFFFF"/>
                </a:highlight>
              </a:rPr>
              <a:t>、</a:t>
            </a:r>
            <a:r>
              <a:rPr lang="zh-TW" sz="2200">
                <a:solidFill>
                  <a:srgbClr val="FF00FF"/>
                </a:solidFill>
                <a:highlight>
                  <a:srgbClr val="FFFFFF"/>
                </a:highlight>
                <a:uFill>
                  <a:noFill/>
                </a:uFill>
                <a:hlinkClick r:id="rId10">
                  <a:extLst>
                    <a:ext uri="{A12FA001-AC4F-418D-AE19-62706E023703}">
                      <ahyp:hlinkClr val="tx"/>
                    </a:ext>
                  </a:extLst>
                </a:hlinkClick>
              </a:rPr>
              <a:t>卵胎生</a:t>
            </a:r>
            <a:r>
              <a:rPr lang="zh-TW" sz="2200">
                <a:solidFill>
                  <a:srgbClr val="FF00FF"/>
                </a:solidFill>
                <a:highlight>
                  <a:srgbClr val="FFFFFF"/>
                </a:highlight>
              </a:rPr>
              <a:t>或</a:t>
            </a:r>
            <a:r>
              <a:rPr lang="zh-TW" sz="2200">
                <a:solidFill>
                  <a:srgbClr val="FF00FF"/>
                </a:solidFill>
                <a:highlight>
                  <a:srgbClr val="FFFFFF"/>
                </a:highlight>
                <a:uFill>
                  <a:noFill/>
                </a:uFill>
                <a:hlinkClick r:id="rId11">
                  <a:extLst>
                    <a:ext uri="{A12FA001-AC4F-418D-AE19-62706E023703}">
                      <ahyp:hlinkClr val="tx"/>
                    </a:ext>
                  </a:extLst>
                </a:hlinkClick>
              </a:rPr>
              <a:t>胎生</a:t>
            </a:r>
            <a:r>
              <a:rPr lang="zh-TW" sz="2200">
                <a:solidFill>
                  <a:srgbClr val="FF00FF"/>
                </a:solidFill>
                <a:highlight>
                  <a:srgbClr val="FFFFFF"/>
                </a:highlight>
              </a:rPr>
              <a:t>。</a:t>
            </a:r>
            <a:endParaRPr sz="2200">
              <a:solidFill>
                <a:srgbClr val="FF00FF"/>
              </a:solidFill>
              <a:latin typeface="Roboto"/>
              <a:ea typeface="Roboto"/>
              <a:cs typeface="Roboto"/>
              <a:sym typeface="Roboto"/>
            </a:endParaRPr>
          </a:p>
        </p:txBody>
      </p:sp>
      <p:sp>
        <p:nvSpPr>
          <p:cNvPr id="121" name="Google Shape;121;p20"/>
          <p:cNvSpPr txBox="1"/>
          <p:nvPr/>
        </p:nvSpPr>
        <p:spPr>
          <a:xfrm>
            <a:off x="5332800" y="76275"/>
            <a:ext cx="38112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4000">
                <a:solidFill>
                  <a:srgbClr val="E06666"/>
                </a:solidFill>
                <a:latin typeface="Roboto"/>
                <a:ea typeface="Roboto"/>
                <a:cs typeface="Roboto"/>
                <a:sym typeface="Roboto"/>
              </a:rPr>
              <a:t>硬骨魚</a:t>
            </a:r>
            <a:endParaRPr sz="4000">
              <a:solidFill>
                <a:srgbClr val="E06666"/>
              </a:solidFill>
              <a:latin typeface="Roboto"/>
              <a:ea typeface="Roboto"/>
              <a:cs typeface="Roboto"/>
              <a:sym typeface="Roboto"/>
            </a:endParaRPr>
          </a:p>
          <a:p>
            <a:pPr indent="0" lvl="0" marL="0" rtl="0" algn="l">
              <a:spcBef>
                <a:spcPts val="0"/>
              </a:spcBef>
              <a:spcAft>
                <a:spcPts val="0"/>
              </a:spcAft>
              <a:buNone/>
            </a:pPr>
            <a:r>
              <a:rPr lang="zh-TW" sz="4000">
                <a:solidFill>
                  <a:srgbClr val="E06666"/>
                </a:solidFill>
                <a:latin typeface="Roboto"/>
                <a:ea typeface="Roboto"/>
                <a:cs typeface="Roboto"/>
                <a:sym typeface="Roboto"/>
              </a:rPr>
              <a:t>(大部分魚類)</a:t>
            </a:r>
            <a:endParaRPr sz="4000">
              <a:solidFill>
                <a:srgbClr val="E06666"/>
              </a:solidFill>
              <a:latin typeface="Roboto"/>
              <a:ea typeface="Roboto"/>
              <a:cs typeface="Roboto"/>
              <a:sym typeface="Roboto"/>
            </a:endParaRPr>
          </a:p>
        </p:txBody>
      </p:sp>
      <p:sp>
        <p:nvSpPr>
          <p:cNvPr id="122" name="Google Shape;122;p20"/>
          <p:cNvSpPr txBox="1"/>
          <p:nvPr/>
        </p:nvSpPr>
        <p:spPr>
          <a:xfrm>
            <a:off x="5153700" y="1830975"/>
            <a:ext cx="3990300" cy="289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2200">
                <a:solidFill>
                  <a:srgbClr val="BF9000"/>
                </a:solidFill>
                <a:highlight>
                  <a:srgbClr val="FFFFFF"/>
                </a:highlight>
                <a:uFill>
                  <a:noFill/>
                </a:uFill>
                <a:hlinkClick r:id="rId12">
                  <a:extLst>
                    <a:ext uri="{A12FA001-AC4F-418D-AE19-62706E023703}">
                      <ahyp:hlinkClr val="tx"/>
                    </a:ext>
                  </a:extLst>
                </a:hlinkClick>
              </a:rPr>
              <a:t>骨骼</a:t>
            </a:r>
            <a:r>
              <a:rPr lang="zh-TW" sz="2200">
                <a:solidFill>
                  <a:srgbClr val="BF9000"/>
                </a:solidFill>
                <a:highlight>
                  <a:srgbClr val="FFFFFF"/>
                </a:highlight>
              </a:rPr>
              <a:t>多為硬骨，身體被硬鱗、圓鱗或櫛鱗，有時裸露無鱗；無鰓裂，外被一骨質鰓蓋；一般具有</a:t>
            </a:r>
            <a:r>
              <a:rPr lang="zh-TW" sz="2200">
                <a:solidFill>
                  <a:srgbClr val="BF9000"/>
                </a:solidFill>
                <a:highlight>
                  <a:srgbClr val="FFFFFF"/>
                </a:highlight>
                <a:uFill>
                  <a:noFill/>
                </a:uFill>
                <a:hlinkClick r:id="rId13">
                  <a:extLst>
                    <a:ext uri="{A12FA001-AC4F-418D-AE19-62706E023703}">
                      <ahyp:hlinkClr val="tx"/>
                    </a:ext>
                  </a:extLst>
                </a:hlinkClick>
              </a:rPr>
              <a:t>鰾</a:t>
            </a:r>
            <a:r>
              <a:rPr lang="zh-TW" sz="2200">
                <a:solidFill>
                  <a:srgbClr val="BF9000"/>
                </a:solidFill>
                <a:highlight>
                  <a:srgbClr val="FFFFFF"/>
                </a:highlight>
              </a:rPr>
              <a:t>，大多是體外受精，卵生，少數為卵胎生。鰓的外側大多有鰓蓋保護，種類繁多但大小和形態有很大的差異。</a:t>
            </a:r>
            <a:endParaRPr sz="2200">
              <a:solidFill>
                <a:srgbClr val="BF9000"/>
              </a:solidFill>
              <a:highlight>
                <a:srgbClr val="FFFFFF"/>
              </a:highlight>
            </a:endParaRPr>
          </a:p>
          <a:p>
            <a:pPr indent="0" lvl="0" marL="0" rtl="0" algn="l">
              <a:spcBef>
                <a:spcPts val="0"/>
              </a:spcBef>
              <a:spcAft>
                <a:spcPts val="0"/>
              </a:spcAft>
              <a:buNone/>
            </a:pPr>
            <a:r>
              <a:t/>
            </a:r>
            <a:endParaRPr sz="2200">
              <a:solidFill>
                <a:srgbClr val="BF9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gtEl>
                                        <p:attrNameLst>
                                          <p:attrName>style.visibility</p:attrName>
                                        </p:attrNameLst>
                                      </p:cBhvr>
                                      <p:to>
                                        <p:strVal val="visible"/>
                                      </p:to>
                                    </p:set>
                                    <p:animEffect filter="fade" transition="in">
                                      <p:cBhvr>
                                        <p:cTn dur="1000"/>
                                        <p:tgtEl>
                                          <p:spTgt spid="1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20"/>
                                        </p:tgtEl>
                                        <p:attrNameLst>
                                          <p:attrName>style.visibility</p:attrName>
                                        </p:attrNameLst>
                                      </p:cBhvr>
                                      <p:to>
                                        <p:strVal val="visible"/>
                                      </p:to>
                                    </p:set>
                                    <p:anim calcmode="lin" valueType="num">
                                      <p:cBhvr additive="base">
                                        <p:cTn dur="1000"/>
                                        <p:tgtEl>
                                          <p:spTgt spid="12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gtEl>
                                        <p:attrNameLst>
                                          <p:attrName>style.visibility</p:attrName>
                                        </p:attrNameLst>
                                      </p:cBhvr>
                                      <p:to>
                                        <p:strVal val="visible"/>
                                      </p:to>
                                    </p:set>
                                    <p:animEffect filter="fade" transition="in">
                                      <p:cBhvr>
                                        <p:cTn dur="1000"/>
                                        <p:tgtEl>
                                          <p:spTgt spid="1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22"/>
                                        </p:tgtEl>
                                        <p:attrNameLst>
                                          <p:attrName>style.visibility</p:attrName>
                                        </p:attrNameLst>
                                      </p:cBhvr>
                                      <p:to>
                                        <p:strVal val="visible"/>
                                      </p:to>
                                    </p:set>
                                    <p:anim calcmode="lin" valueType="num">
                                      <p:cBhvr additive="base">
                                        <p:cTn dur="1000"/>
                                        <p:tgtEl>
                                          <p:spTgt spid="122"/>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1"/>
          <p:cNvSpPr txBox="1"/>
          <p:nvPr/>
        </p:nvSpPr>
        <p:spPr>
          <a:xfrm>
            <a:off x="3148200" y="604375"/>
            <a:ext cx="5961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28" name="Google Shape;128;p21"/>
          <p:cNvSpPr txBox="1"/>
          <p:nvPr/>
        </p:nvSpPr>
        <p:spPr>
          <a:xfrm>
            <a:off x="1339200" y="1310400"/>
            <a:ext cx="13716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1"/>
          <p:cNvSpPr txBox="1"/>
          <p:nvPr/>
        </p:nvSpPr>
        <p:spPr>
          <a:xfrm>
            <a:off x="320225" y="202200"/>
            <a:ext cx="41199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6000">
                <a:solidFill>
                  <a:srgbClr val="6AA84F"/>
                </a:solidFill>
                <a:latin typeface="Roboto"/>
                <a:ea typeface="Roboto"/>
                <a:cs typeface="Roboto"/>
                <a:sym typeface="Roboto"/>
              </a:rPr>
              <a:t>特殊魚類-1</a:t>
            </a:r>
            <a:endParaRPr sz="6000">
              <a:solidFill>
                <a:srgbClr val="6AA84F"/>
              </a:solidFill>
              <a:latin typeface="Roboto"/>
              <a:ea typeface="Roboto"/>
              <a:cs typeface="Roboto"/>
              <a:sym typeface="Roboto"/>
            </a:endParaRPr>
          </a:p>
        </p:txBody>
      </p:sp>
      <p:pic>
        <p:nvPicPr>
          <p:cNvPr id="130" name="Google Shape;130;p21"/>
          <p:cNvPicPr preferRelativeResize="0"/>
          <p:nvPr/>
        </p:nvPicPr>
        <p:blipFill>
          <a:blip r:embed="rId3">
            <a:alphaModFix/>
          </a:blip>
          <a:stretch>
            <a:fillRect/>
          </a:stretch>
        </p:blipFill>
        <p:spPr>
          <a:xfrm>
            <a:off x="4703375" y="1581125"/>
            <a:ext cx="3943925" cy="2957957"/>
          </a:xfrm>
          <a:prstGeom prst="rect">
            <a:avLst/>
          </a:prstGeom>
          <a:noFill/>
          <a:ln>
            <a:noFill/>
          </a:ln>
        </p:spPr>
      </p:pic>
      <p:sp>
        <p:nvSpPr>
          <p:cNvPr id="131" name="Google Shape;131;p21"/>
          <p:cNvSpPr txBox="1"/>
          <p:nvPr/>
        </p:nvSpPr>
        <p:spPr>
          <a:xfrm>
            <a:off x="56975" y="1233900"/>
            <a:ext cx="4646400" cy="3016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3000" u="sng">
                <a:solidFill>
                  <a:schemeClr val="accent3"/>
                </a:solidFill>
                <a:highlight>
                  <a:srgbClr val="FFFFFF"/>
                </a:highlight>
              </a:rPr>
              <a:t>海馬</a:t>
            </a:r>
            <a:endParaRPr sz="3000" u="sng">
              <a:solidFill>
                <a:schemeClr val="accent3"/>
              </a:solidFill>
              <a:highlight>
                <a:srgbClr val="FFFFFF"/>
              </a:highlight>
            </a:endParaRPr>
          </a:p>
          <a:p>
            <a:pPr indent="0" lvl="0" marL="0" rtl="0" algn="l">
              <a:spcBef>
                <a:spcPts val="0"/>
              </a:spcBef>
              <a:spcAft>
                <a:spcPts val="0"/>
              </a:spcAft>
              <a:buNone/>
            </a:pPr>
            <a:r>
              <a:rPr lang="zh-TW" sz="2200">
                <a:solidFill>
                  <a:srgbClr val="FF9900"/>
                </a:solidFill>
                <a:highlight>
                  <a:srgbClr val="FFFFFF"/>
                </a:highlight>
              </a:rPr>
              <a:t>尾鰭完全退化，脊椎則演化到如猴子尾巴一樣的</a:t>
            </a:r>
            <a:r>
              <a:rPr lang="zh-TW" sz="2200">
                <a:solidFill>
                  <a:srgbClr val="FF9900"/>
                </a:solidFill>
                <a:highlight>
                  <a:srgbClr val="FFFFFF"/>
                </a:highlight>
                <a:uFill>
                  <a:noFill/>
                </a:uFill>
                <a:hlinkClick r:id="rId4">
                  <a:extLst>
                    <a:ext uri="{A12FA001-AC4F-418D-AE19-62706E023703}">
                      <ahyp:hlinkClr val="tx"/>
                    </a:ext>
                  </a:extLst>
                </a:hlinkClick>
              </a:rPr>
              <a:t>捲纏尾</a:t>
            </a:r>
            <a:r>
              <a:rPr lang="zh-TW" sz="2200">
                <a:solidFill>
                  <a:srgbClr val="FF9900"/>
                </a:solidFill>
                <a:highlight>
                  <a:srgbClr val="FFFFFF"/>
                </a:highlight>
              </a:rPr>
              <a:t>，可捲曲來鉤住任何突出物體，以固定身體位置。它們幾乎總是昂立著身體，依靠小而幾乎透明的魚鰭的扇動，它們可以任意上下左右移動，但速度緩慢。</a:t>
            </a:r>
            <a:endParaRPr sz="2200">
              <a:solidFill>
                <a:srgbClr val="FF99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1500"/>
                                        <p:tgtEl>
                                          <p:spTgt spid="1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31"/>
                                        </p:tgtEl>
                                        <p:attrNameLst>
                                          <p:attrName>style.visibility</p:attrName>
                                        </p:attrNameLst>
                                      </p:cBhvr>
                                      <p:to>
                                        <p:strVal val="visible"/>
                                      </p:to>
                                    </p:set>
                                    <p:anim calcmode="lin" valueType="num">
                                      <p:cBhvr additive="base">
                                        <p:cTn dur="1000"/>
                                        <p:tgtEl>
                                          <p:spTgt spid="13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0"/>
                                        </p:tgtEl>
                                        <p:attrNameLst>
                                          <p:attrName>style.visibility</p:attrName>
                                        </p:attrNameLst>
                                      </p:cBhvr>
                                      <p:to>
                                        <p:strVal val="visible"/>
                                      </p:to>
                                    </p:set>
                                    <p:anim calcmode="lin" valueType="num">
                                      <p:cBhvr additive="base">
                                        <p:cTn dur="1000"/>
                                        <p:tgtEl>
                                          <p:spTgt spid="130"/>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2"/>
          <p:cNvSpPr txBox="1"/>
          <p:nvPr/>
        </p:nvSpPr>
        <p:spPr>
          <a:xfrm>
            <a:off x="492175" y="295300"/>
            <a:ext cx="66945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6000">
                <a:solidFill>
                  <a:srgbClr val="6AA84F"/>
                </a:solidFill>
                <a:latin typeface="Roboto"/>
                <a:ea typeface="Roboto"/>
                <a:cs typeface="Roboto"/>
                <a:sym typeface="Roboto"/>
              </a:rPr>
              <a:t>特殊魚類-2</a:t>
            </a:r>
            <a:endParaRPr>
              <a:latin typeface="Roboto"/>
              <a:ea typeface="Roboto"/>
              <a:cs typeface="Roboto"/>
              <a:sym typeface="Roboto"/>
            </a:endParaRPr>
          </a:p>
        </p:txBody>
      </p:sp>
      <p:sp>
        <p:nvSpPr>
          <p:cNvPr id="137" name="Google Shape;137;p22"/>
          <p:cNvSpPr txBox="1"/>
          <p:nvPr/>
        </p:nvSpPr>
        <p:spPr>
          <a:xfrm>
            <a:off x="0" y="1403500"/>
            <a:ext cx="4663800" cy="303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3150" u="sng">
                <a:solidFill>
                  <a:schemeClr val="accent3"/>
                </a:solidFill>
                <a:latin typeface="Georgia"/>
                <a:ea typeface="Georgia"/>
                <a:cs typeface="Georgia"/>
                <a:sym typeface="Georgia"/>
              </a:rPr>
              <a:t>軟隱棘杜父魚</a:t>
            </a:r>
            <a:endParaRPr sz="3150" u="sng">
              <a:solidFill>
                <a:schemeClr val="accent3"/>
              </a:solidFill>
              <a:latin typeface="Georgia"/>
              <a:ea typeface="Georgia"/>
              <a:cs typeface="Georgia"/>
              <a:sym typeface="Georgia"/>
            </a:endParaRPr>
          </a:p>
          <a:p>
            <a:pPr indent="0" lvl="0" marL="0" rtl="0" algn="l">
              <a:spcBef>
                <a:spcPts val="0"/>
              </a:spcBef>
              <a:spcAft>
                <a:spcPts val="0"/>
              </a:spcAft>
              <a:buNone/>
            </a:pPr>
            <a:r>
              <a:rPr lang="zh-TW" sz="2200">
                <a:solidFill>
                  <a:schemeClr val="accent1"/>
                </a:solidFill>
                <a:highlight>
                  <a:srgbClr val="FFFFFF"/>
                </a:highlight>
              </a:rPr>
              <a:t>身體呈凝膠狀，牠們主要分布在600至1,200米的深海領域，其所受壓力比</a:t>
            </a:r>
            <a:r>
              <a:rPr lang="zh-TW" sz="2200">
                <a:solidFill>
                  <a:schemeClr val="accent1"/>
                </a:solidFill>
                <a:highlight>
                  <a:srgbClr val="FFFFFF"/>
                </a:highlight>
                <a:uFill>
                  <a:noFill/>
                </a:uFill>
                <a:hlinkClick r:id="rId3">
                  <a:extLst>
                    <a:ext uri="{A12FA001-AC4F-418D-AE19-62706E023703}">
                      <ahyp:hlinkClr val="tx"/>
                    </a:ext>
                  </a:extLst>
                </a:hlinkClick>
              </a:rPr>
              <a:t>海平面</a:t>
            </a:r>
            <a:r>
              <a:rPr lang="zh-TW" sz="2200">
                <a:solidFill>
                  <a:schemeClr val="accent1"/>
                </a:solidFill>
                <a:highlight>
                  <a:srgbClr val="FFFFFF"/>
                </a:highlight>
              </a:rPr>
              <a:t>高60至120倍，使得</a:t>
            </a:r>
            <a:r>
              <a:rPr lang="zh-TW" sz="2200">
                <a:solidFill>
                  <a:schemeClr val="accent1"/>
                </a:solidFill>
                <a:highlight>
                  <a:srgbClr val="FFFFFF"/>
                </a:highlight>
                <a:uFill>
                  <a:noFill/>
                </a:uFill>
                <a:hlinkClick r:id="rId4">
                  <a:extLst>
                    <a:ext uri="{A12FA001-AC4F-418D-AE19-62706E023703}">
                      <ahyp:hlinkClr val="tx"/>
                    </a:ext>
                  </a:extLst>
                </a:hlinkClick>
              </a:rPr>
              <a:t>鰾</a:t>
            </a:r>
            <a:r>
              <a:rPr lang="zh-TW" sz="2200">
                <a:solidFill>
                  <a:schemeClr val="accent1"/>
                </a:solidFill>
                <a:highlight>
                  <a:srgbClr val="FFFFFF"/>
                </a:highlight>
              </a:rPr>
              <a:t>難以用來維持足夠的</a:t>
            </a:r>
            <a:r>
              <a:rPr lang="zh-TW" sz="2200">
                <a:solidFill>
                  <a:schemeClr val="accent1"/>
                </a:solidFill>
                <a:highlight>
                  <a:srgbClr val="FFFFFF"/>
                </a:highlight>
                <a:uFill>
                  <a:noFill/>
                </a:uFill>
                <a:hlinkClick r:id="rId5">
                  <a:extLst>
                    <a:ext uri="{A12FA001-AC4F-418D-AE19-62706E023703}">
                      <ahyp:hlinkClr val="tx"/>
                    </a:ext>
                  </a:extLst>
                </a:hlinkClick>
              </a:rPr>
              <a:t>浮力</a:t>
            </a:r>
            <a:r>
              <a:rPr lang="zh-TW" sz="2200">
                <a:solidFill>
                  <a:schemeClr val="accent1"/>
                </a:solidFill>
                <a:highlight>
                  <a:srgbClr val="FFFFFF"/>
                </a:highlight>
              </a:rPr>
              <a:t>。因此水滴魚身體由</a:t>
            </a:r>
            <a:r>
              <a:rPr lang="zh-TW" sz="2200">
                <a:solidFill>
                  <a:schemeClr val="accent1"/>
                </a:solidFill>
                <a:highlight>
                  <a:srgbClr val="FFFFFF"/>
                </a:highlight>
                <a:uFill>
                  <a:noFill/>
                </a:uFill>
                <a:hlinkClick r:id="rId6">
                  <a:extLst>
                    <a:ext uri="{A12FA001-AC4F-418D-AE19-62706E023703}">
                      <ahyp:hlinkClr val="tx"/>
                    </a:ext>
                  </a:extLst>
                </a:hlinkClick>
              </a:rPr>
              <a:t>密度</a:t>
            </a:r>
            <a:r>
              <a:rPr lang="zh-TW" sz="2200">
                <a:solidFill>
                  <a:schemeClr val="accent1"/>
                </a:solidFill>
                <a:highlight>
                  <a:srgbClr val="FFFFFF"/>
                </a:highlight>
              </a:rPr>
              <a:t>比水還要低的膠狀物質組成以保持浮力，讓水滴魚可以較輕易從海底浮出。</a:t>
            </a:r>
            <a:endParaRPr sz="2200">
              <a:solidFill>
                <a:schemeClr val="accent1"/>
              </a:solidFill>
              <a:latin typeface="Roboto"/>
              <a:ea typeface="Roboto"/>
              <a:cs typeface="Roboto"/>
              <a:sym typeface="Roboto"/>
            </a:endParaRPr>
          </a:p>
        </p:txBody>
      </p:sp>
      <p:pic>
        <p:nvPicPr>
          <p:cNvPr id="138" name="Google Shape;138;p22"/>
          <p:cNvPicPr preferRelativeResize="0"/>
          <p:nvPr/>
        </p:nvPicPr>
        <p:blipFill>
          <a:blip r:embed="rId7">
            <a:alphaModFix/>
          </a:blip>
          <a:stretch>
            <a:fillRect/>
          </a:stretch>
        </p:blipFill>
        <p:spPr>
          <a:xfrm>
            <a:off x="4804325" y="1933713"/>
            <a:ext cx="4216750" cy="2361375"/>
          </a:xfrm>
          <a:prstGeom prst="rect">
            <a:avLst/>
          </a:prstGeom>
          <a:noFill/>
          <a:ln>
            <a:noFill/>
          </a:ln>
        </p:spPr>
      </p:pic>
      <p:sp>
        <p:nvSpPr>
          <p:cNvPr id="139" name="Google Shape;139;p22"/>
          <p:cNvSpPr txBox="1"/>
          <p:nvPr/>
        </p:nvSpPr>
        <p:spPr>
          <a:xfrm>
            <a:off x="7114450" y="4295075"/>
            <a:ext cx="2029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800">
                <a:solidFill>
                  <a:srgbClr val="3C78D8"/>
                </a:solidFill>
                <a:latin typeface="Roboto"/>
                <a:ea typeface="Roboto"/>
                <a:cs typeface="Roboto"/>
                <a:sym typeface="Roboto"/>
              </a:rPr>
              <a:t>和曾偉倫一樣可愛</a:t>
            </a:r>
            <a:endParaRPr sz="1800">
              <a:solidFill>
                <a:srgbClr val="3C78D8"/>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gtEl>
                                        <p:attrNameLst>
                                          <p:attrName>style.visibility</p:attrName>
                                        </p:attrNameLst>
                                      </p:cBhvr>
                                      <p:to>
                                        <p:strVal val="visible"/>
                                      </p:to>
                                    </p:set>
                                    <p:animEffect filter="fade" transition="in">
                                      <p:cBhvr>
                                        <p:cTn dur="1000"/>
                                        <p:tgtEl>
                                          <p:spTgt spid="1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7"/>
                                        </p:tgtEl>
                                        <p:attrNameLst>
                                          <p:attrName>style.visibility</p:attrName>
                                        </p:attrNameLst>
                                      </p:cBhvr>
                                      <p:to>
                                        <p:strVal val="visible"/>
                                      </p:to>
                                    </p:set>
                                    <p:anim calcmode="lin" valueType="num">
                                      <p:cBhvr additive="base">
                                        <p:cTn dur="1000"/>
                                        <p:tgtEl>
                                          <p:spTgt spid="13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38"/>
                                        </p:tgtEl>
                                        <p:attrNameLst>
                                          <p:attrName>style.visibility</p:attrName>
                                        </p:attrNameLst>
                                      </p:cBhvr>
                                      <p:to>
                                        <p:strVal val="visible"/>
                                      </p:to>
                                    </p:set>
                                    <p:anim calcmode="lin" valueType="num">
                                      <p:cBhvr additive="base">
                                        <p:cTn dur="1000"/>
                                        <p:tgtEl>
                                          <p:spTgt spid="13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39"/>
                                        </p:tgtEl>
                                        <p:attrNameLst>
                                          <p:attrName>style.visibility</p:attrName>
                                        </p:attrNameLst>
                                      </p:cBhvr>
                                      <p:to>
                                        <p:strVal val="visible"/>
                                      </p:to>
                                    </p:set>
                                    <p:anim calcmode="lin" valueType="num">
                                      <p:cBhvr additive="base">
                                        <p:cTn dur="1000"/>
                                        <p:tgtEl>
                                          <p:spTgt spid="139"/>
                                        </p:tgtEl>
                                        <p:attrNameLst>
                                          <p:attrName>ppt_w</p:attrName>
                                        </p:attrNameLst>
                                      </p:cBhvr>
                                      <p:tavLst>
                                        <p:tav fmla="" tm="0">
                                          <p:val>
                                            <p:strVal val="0"/>
                                          </p:val>
                                        </p:tav>
                                        <p:tav fmla="" tm="100000">
                                          <p:val>
                                            <p:strVal val="#ppt_w"/>
                                          </p:val>
                                        </p:tav>
                                      </p:tavLst>
                                    </p:anim>
                                    <p:anim calcmode="lin" valueType="num">
                                      <p:cBhvr additive="base">
                                        <p:cTn dur="1000"/>
                                        <p:tgtEl>
                                          <p:spTgt spid="13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3"/>
          <p:cNvSpPr txBox="1"/>
          <p:nvPr/>
        </p:nvSpPr>
        <p:spPr>
          <a:xfrm>
            <a:off x="523425" y="307225"/>
            <a:ext cx="3834900" cy="11082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zh-TW" sz="6000">
                <a:solidFill>
                  <a:srgbClr val="FF0000"/>
                </a:solidFill>
                <a:highlight>
                  <a:srgbClr val="FFFFFF"/>
                </a:highlight>
                <a:latin typeface="Times New Roman"/>
                <a:ea typeface="Times New Roman"/>
                <a:cs typeface="Times New Roman"/>
                <a:sym typeface="Times New Roman"/>
              </a:rPr>
              <a:t>鰾的功能</a:t>
            </a:r>
            <a:endParaRPr sz="6000">
              <a:solidFill>
                <a:srgbClr val="FF0000"/>
              </a:solidFill>
              <a:highlight>
                <a:srgbClr val="FFFFFF"/>
              </a:highlight>
              <a:latin typeface="Times New Roman"/>
              <a:ea typeface="Times New Roman"/>
              <a:cs typeface="Times New Roman"/>
              <a:sym typeface="Times New Roman"/>
            </a:endParaRPr>
          </a:p>
        </p:txBody>
      </p:sp>
      <p:sp>
        <p:nvSpPr>
          <p:cNvPr id="145" name="Google Shape;145;p23"/>
          <p:cNvSpPr txBox="1"/>
          <p:nvPr/>
        </p:nvSpPr>
        <p:spPr>
          <a:xfrm>
            <a:off x="588325" y="1415425"/>
            <a:ext cx="3983700" cy="477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zh-TW" sz="2200">
                <a:solidFill>
                  <a:srgbClr val="449C2B"/>
                </a:solidFill>
                <a:highlight>
                  <a:srgbClr val="FFFFFF"/>
                </a:highlight>
              </a:rPr>
              <a:t>1.調節魚體之比重以適應度。</a:t>
            </a:r>
            <a:endParaRPr sz="2200">
              <a:solidFill>
                <a:srgbClr val="449C2B"/>
              </a:solidFill>
            </a:endParaRPr>
          </a:p>
        </p:txBody>
      </p:sp>
      <p:pic>
        <p:nvPicPr>
          <p:cNvPr id="146" name="Google Shape;146;p23"/>
          <p:cNvPicPr preferRelativeResize="0"/>
          <p:nvPr/>
        </p:nvPicPr>
        <p:blipFill>
          <a:blip r:embed="rId3">
            <a:alphaModFix/>
          </a:blip>
          <a:stretch>
            <a:fillRect/>
          </a:stretch>
        </p:blipFill>
        <p:spPr>
          <a:xfrm>
            <a:off x="523425" y="2778450"/>
            <a:ext cx="3374300" cy="1255875"/>
          </a:xfrm>
          <a:prstGeom prst="rect">
            <a:avLst/>
          </a:prstGeom>
          <a:noFill/>
          <a:ln>
            <a:noFill/>
          </a:ln>
        </p:spPr>
      </p:pic>
      <p:sp>
        <p:nvSpPr>
          <p:cNvPr id="147" name="Google Shape;147;p23"/>
          <p:cNvSpPr txBox="1"/>
          <p:nvPr/>
        </p:nvSpPr>
        <p:spPr>
          <a:xfrm>
            <a:off x="4571125" y="1463550"/>
            <a:ext cx="4106400" cy="221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2200">
                <a:solidFill>
                  <a:srgbClr val="351C75"/>
                </a:solidFill>
                <a:highlight>
                  <a:srgbClr val="FFFFFF"/>
                </a:highlight>
                <a:latin typeface="Roboto"/>
                <a:ea typeface="Roboto"/>
                <a:cs typeface="Roboto"/>
                <a:sym typeface="Roboto"/>
              </a:rPr>
              <a:t>生活在淺水魚類的鰾內氣體成份類似</a:t>
            </a:r>
            <a:r>
              <a:rPr lang="zh-TW" sz="2200">
                <a:solidFill>
                  <a:srgbClr val="351C75"/>
                </a:solidFill>
                <a:highlight>
                  <a:srgbClr val="FFFFFF"/>
                </a:highlight>
                <a:uFill>
                  <a:noFill/>
                </a:uFill>
                <a:latin typeface="Roboto"/>
                <a:ea typeface="Roboto"/>
                <a:cs typeface="Roboto"/>
                <a:sym typeface="Roboto"/>
                <a:hlinkClick r:id="rId4">
                  <a:extLst>
                    <a:ext uri="{A12FA001-AC4F-418D-AE19-62706E023703}">
                      <ahyp:hlinkClr val="tx"/>
                    </a:ext>
                  </a:extLst>
                </a:hlinkClick>
              </a:rPr>
              <a:t>空氣</a:t>
            </a:r>
            <a:r>
              <a:rPr lang="zh-TW" sz="2200">
                <a:solidFill>
                  <a:srgbClr val="351C75"/>
                </a:solidFill>
                <a:highlight>
                  <a:srgbClr val="FFFFFF"/>
                </a:highlight>
                <a:latin typeface="Roboto"/>
                <a:ea typeface="Roboto"/>
                <a:cs typeface="Roboto"/>
                <a:sym typeface="Roboto"/>
              </a:rPr>
              <a:t>。深海魚類則一般含</a:t>
            </a:r>
            <a:r>
              <a:rPr lang="zh-TW" sz="2200">
                <a:solidFill>
                  <a:srgbClr val="351C75"/>
                </a:solidFill>
                <a:highlight>
                  <a:srgbClr val="FFFFFF"/>
                </a:highlight>
                <a:uFill>
                  <a:noFill/>
                </a:uFill>
                <a:latin typeface="Roboto"/>
                <a:ea typeface="Roboto"/>
                <a:cs typeface="Roboto"/>
                <a:sym typeface="Roboto"/>
                <a:hlinkClick r:id="rId5">
                  <a:extLst>
                    <a:ext uri="{A12FA001-AC4F-418D-AE19-62706E023703}">
                      <ahyp:hlinkClr val="tx"/>
                    </a:ext>
                  </a:extLst>
                </a:hlinkClick>
              </a:rPr>
              <a:t>氧氣</a:t>
            </a:r>
            <a:r>
              <a:rPr lang="zh-TW" sz="2200">
                <a:solidFill>
                  <a:srgbClr val="351C75"/>
                </a:solidFill>
                <a:highlight>
                  <a:srgbClr val="FFFFFF"/>
                </a:highlight>
                <a:latin typeface="Roboto"/>
                <a:ea typeface="Roboto"/>
                <a:cs typeface="Roboto"/>
                <a:sym typeface="Roboto"/>
              </a:rPr>
              <a:t>較空氣高。鰾內不同程度的充氣導致其體積以及整個魚體的</a:t>
            </a:r>
            <a:r>
              <a:rPr lang="zh-TW" sz="2200">
                <a:solidFill>
                  <a:srgbClr val="351C75"/>
                </a:solidFill>
                <a:highlight>
                  <a:srgbClr val="FFFFFF"/>
                </a:highlight>
                <a:uFill>
                  <a:noFill/>
                </a:uFill>
                <a:latin typeface="Roboto"/>
                <a:ea typeface="Roboto"/>
                <a:cs typeface="Roboto"/>
                <a:sym typeface="Roboto"/>
                <a:hlinkClick r:id="rId6">
                  <a:extLst>
                    <a:ext uri="{A12FA001-AC4F-418D-AE19-62706E023703}">
                      <ahyp:hlinkClr val="tx"/>
                    </a:ext>
                  </a:extLst>
                </a:hlinkClick>
              </a:rPr>
              <a:t>比重</a:t>
            </a:r>
            <a:r>
              <a:rPr lang="zh-TW" sz="2200">
                <a:solidFill>
                  <a:srgbClr val="351C75"/>
                </a:solidFill>
                <a:highlight>
                  <a:srgbClr val="FFFFFF"/>
                </a:highlight>
                <a:latin typeface="Roboto"/>
                <a:ea typeface="Roboto"/>
                <a:cs typeface="Roboto"/>
                <a:sym typeface="Roboto"/>
              </a:rPr>
              <a:t>變化。鰾主要的功能是降低魚在水裡的比重。</a:t>
            </a:r>
            <a:endParaRPr sz="2200">
              <a:solidFill>
                <a:srgbClr val="351C75"/>
              </a:solidFill>
            </a:endParaRPr>
          </a:p>
        </p:txBody>
      </p:sp>
      <p:sp>
        <p:nvSpPr>
          <p:cNvPr id="148" name="Google Shape;148;p23"/>
          <p:cNvSpPr txBox="1"/>
          <p:nvPr/>
        </p:nvSpPr>
        <p:spPr>
          <a:xfrm>
            <a:off x="588325" y="1835338"/>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2200">
                <a:solidFill>
                  <a:srgbClr val="449C2B"/>
                </a:solidFill>
                <a:highlight>
                  <a:srgbClr val="FFFFFF"/>
                </a:highlight>
              </a:rPr>
              <a:t>2.探測外界的壓力。</a:t>
            </a:r>
            <a:endParaRPr sz="2200">
              <a:solidFill>
                <a:srgbClr val="449C2B"/>
              </a:solidFill>
            </a:endParaRPr>
          </a:p>
        </p:txBody>
      </p:sp>
      <p:sp>
        <p:nvSpPr>
          <p:cNvPr id="149" name="Google Shape;149;p23"/>
          <p:cNvSpPr txBox="1"/>
          <p:nvPr/>
        </p:nvSpPr>
        <p:spPr>
          <a:xfrm>
            <a:off x="588325" y="2255250"/>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2200">
                <a:solidFill>
                  <a:srgbClr val="449C2B"/>
                </a:solidFill>
                <a:highlight>
                  <a:srgbClr val="FFFFFF"/>
                </a:highlight>
              </a:rPr>
              <a:t>3.發音。</a:t>
            </a:r>
            <a:endParaRPr sz="2200">
              <a:solidFill>
                <a:srgbClr val="449C2B"/>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1000"/>
                                        <p:tgtEl>
                                          <p:spTgt spid="1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1000"/>
                                        <p:tgtEl>
                                          <p:spTgt spid="1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gtEl>
                                        <p:attrNameLst>
                                          <p:attrName>style.visibility</p:attrName>
                                        </p:attrNameLst>
                                      </p:cBhvr>
                                      <p:to>
                                        <p:strVal val="visible"/>
                                      </p:to>
                                    </p:set>
                                    <p:animEffect filter="fade" transition="in">
                                      <p:cBhvr>
                                        <p:cTn dur="1000"/>
                                        <p:tgtEl>
                                          <p:spTgt spid="1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gtEl>
                                        <p:attrNameLst>
                                          <p:attrName>style.visibility</p:attrName>
                                        </p:attrNameLst>
                                      </p:cBhvr>
                                      <p:to>
                                        <p:strVal val="visible"/>
                                      </p:to>
                                    </p:set>
                                    <p:animEffect filter="fade" transition="in">
                                      <p:cBhvr>
                                        <p:cTn dur="1000"/>
                                        <p:tgtEl>
                                          <p:spTgt spid="1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47"/>
                                        </p:tgtEl>
                                        <p:attrNameLst>
                                          <p:attrName>style.visibility</p:attrName>
                                        </p:attrNameLst>
                                      </p:cBhvr>
                                      <p:to>
                                        <p:strVal val="visible"/>
                                      </p:to>
                                    </p:set>
                                    <p:anim calcmode="lin" valueType="num">
                                      <p:cBhvr additive="base">
                                        <p:cTn dur="1000"/>
                                        <p:tgtEl>
                                          <p:spTgt spid="14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46"/>
                                        </p:tgtEl>
                                        <p:attrNameLst>
                                          <p:attrName>style.visibility</p:attrName>
                                        </p:attrNameLst>
                                      </p:cBhvr>
                                      <p:to>
                                        <p:strVal val="visible"/>
                                      </p:to>
                                    </p:set>
                                    <p:anim calcmode="lin" valueType="num">
                                      <p:cBhvr additive="base">
                                        <p:cTn dur="1"/>
                                        <p:tgtEl>
                                          <p:spTgt spid="14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4"/>
          <p:cNvSpPr txBox="1"/>
          <p:nvPr/>
        </p:nvSpPr>
        <p:spPr>
          <a:xfrm>
            <a:off x="343750" y="0"/>
            <a:ext cx="3630000" cy="1524900"/>
          </a:xfrm>
          <a:prstGeom prst="rect">
            <a:avLst/>
          </a:prstGeom>
          <a:noFill/>
          <a:ln>
            <a:noFill/>
          </a:ln>
        </p:spPr>
        <p:txBody>
          <a:bodyPr anchorCtr="0" anchor="ctr" bIns="91425" lIns="91425" spcFirstLastPara="1" rIns="91425" wrap="square" tIns="91425">
            <a:noAutofit/>
          </a:bodyPr>
          <a:lstStyle/>
          <a:p>
            <a:pPr indent="0" lvl="0" marL="0" rtl="0" algn="l">
              <a:lnSpc>
                <a:spcPct val="117391"/>
              </a:lnSpc>
              <a:spcBef>
                <a:spcPts val="0"/>
              </a:spcBef>
              <a:spcAft>
                <a:spcPts val="0"/>
              </a:spcAft>
              <a:buNone/>
            </a:pPr>
            <a:r>
              <a:rPr b="1" lang="zh-TW" sz="6000">
                <a:solidFill>
                  <a:srgbClr val="BF9000"/>
                </a:solidFill>
                <a:latin typeface="Microsoft JhengHei"/>
                <a:ea typeface="Microsoft JhengHei"/>
                <a:cs typeface="Microsoft JhengHei"/>
                <a:sym typeface="Microsoft JhengHei"/>
              </a:rPr>
              <a:t>麻油魚膘</a:t>
            </a:r>
            <a:endParaRPr b="1" sz="6000">
              <a:solidFill>
                <a:srgbClr val="BF9000"/>
              </a:solidFill>
              <a:latin typeface="Microsoft JhengHei"/>
              <a:ea typeface="Microsoft JhengHei"/>
              <a:cs typeface="Microsoft JhengHei"/>
              <a:sym typeface="Microsoft JhengHei"/>
            </a:endParaRPr>
          </a:p>
        </p:txBody>
      </p:sp>
      <p:pic>
        <p:nvPicPr>
          <p:cNvPr id="155" name="Google Shape;155;p24"/>
          <p:cNvPicPr preferRelativeResize="0"/>
          <p:nvPr/>
        </p:nvPicPr>
        <p:blipFill>
          <a:blip r:embed="rId3">
            <a:alphaModFix/>
          </a:blip>
          <a:stretch>
            <a:fillRect/>
          </a:stretch>
        </p:blipFill>
        <p:spPr>
          <a:xfrm>
            <a:off x="6510050" y="1568625"/>
            <a:ext cx="2578650" cy="2578650"/>
          </a:xfrm>
          <a:prstGeom prst="rect">
            <a:avLst/>
          </a:prstGeom>
          <a:noFill/>
          <a:ln>
            <a:noFill/>
          </a:ln>
        </p:spPr>
      </p:pic>
      <p:graphicFrame>
        <p:nvGraphicFramePr>
          <p:cNvPr id="156" name="Google Shape;156;p24"/>
          <p:cNvGraphicFramePr/>
          <p:nvPr/>
        </p:nvGraphicFramePr>
        <p:xfrm>
          <a:off x="343750" y="2476938"/>
          <a:ext cx="3000000" cy="3000000"/>
        </p:xfrm>
        <a:graphic>
          <a:graphicData uri="http://schemas.openxmlformats.org/drawingml/2006/table">
            <a:tbl>
              <a:tblPr>
                <a:noFill/>
                <a:tableStyleId>{01492ABB-B14B-451E-A26A-50B93598235F}</a:tableStyleId>
              </a:tblPr>
              <a:tblGrid>
                <a:gridCol w="1387300"/>
                <a:gridCol w="1387300"/>
                <a:gridCol w="1387300"/>
                <a:gridCol w="1387300"/>
              </a:tblGrid>
              <a:tr h="381000">
                <a:tc>
                  <a:txBody>
                    <a:bodyPr/>
                    <a:lstStyle/>
                    <a:p>
                      <a:pPr indent="-298450" lvl="0" marL="457200" rtl="0" algn="ctr">
                        <a:lnSpc>
                          <a:spcPct val="115000"/>
                        </a:lnSpc>
                        <a:spcBef>
                          <a:spcPts val="0"/>
                        </a:spcBef>
                        <a:spcAft>
                          <a:spcPts val="0"/>
                        </a:spcAft>
                        <a:buClr>
                          <a:srgbClr val="FF00FF"/>
                        </a:buClr>
                        <a:buSzPts val="1100"/>
                        <a:buFont typeface="Microsoft JhengHei"/>
                        <a:buChar char="●"/>
                      </a:pPr>
                      <a:r>
                        <a:rPr lang="zh-TW" sz="1100">
                          <a:solidFill>
                            <a:srgbClr val="FF00FF"/>
                          </a:solidFill>
                          <a:highlight>
                            <a:srgbClr val="FFFFFF"/>
                          </a:highlight>
                          <a:uFill>
                            <a:noFill/>
                          </a:uFill>
                          <a:latin typeface="Microsoft JhengHei"/>
                          <a:ea typeface="Microsoft JhengHei"/>
                          <a:cs typeface="Microsoft JhengHei"/>
                          <a:sym typeface="Microsoft JhengHei"/>
                          <a:hlinkClick r:id="rId4">
                            <a:extLst>
                              <a:ext uri="{A12FA001-AC4F-418D-AE19-62706E023703}">
                                <ahyp:hlinkClr val="tx"/>
                              </a:ext>
                            </a:extLst>
                          </a:hlinkClick>
                        </a:rPr>
                        <a:t>烏魚膘</a:t>
                      </a:r>
                      <a:endParaRPr sz="1100">
                        <a:solidFill>
                          <a:srgbClr val="FF00FF"/>
                        </a:solidFill>
                      </a:endParaRPr>
                    </a:p>
                  </a:txBody>
                  <a:tcPr marT="91425" marB="91425" marR="91425" marL="91425" anchor="ctr"/>
                </a:tc>
                <a:tc>
                  <a:txBody>
                    <a:bodyPr/>
                    <a:lstStyle/>
                    <a:p>
                      <a:pPr indent="-298450" lvl="0" marL="457200" rtl="0" algn="ctr">
                        <a:spcBef>
                          <a:spcPts val="0"/>
                        </a:spcBef>
                        <a:spcAft>
                          <a:spcPts val="0"/>
                        </a:spcAft>
                        <a:buClr>
                          <a:srgbClr val="FF00FF"/>
                        </a:buClr>
                        <a:buSzPts val="1100"/>
                        <a:buFont typeface="Microsoft JhengHei"/>
                        <a:buChar char="●"/>
                      </a:pPr>
                      <a:r>
                        <a:rPr lang="zh-TW" sz="1100">
                          <a:solidFill>
                            <a:srgbClr val="FF00FF"/>
                          </a:solidFill>
                          <a:highlight>
                            <a:srgbClr val="FFFFFF"/>
                          </a:highlight>
                          <a:latin typeface="Microsoft JhengHei"/>
                          <a:ea typeface="Microsoft JhengHei"/>
                          <a:cs typeface="Microsoft JhengHei"/>
                          <a:sym typeface="Microsoft JhengHei"/>
                        </a:rPr>
                        <a:t>2副</a:t>
                      </a:r>
                      <a:endParaRPr sz="1100">
                        <a:solidFill>
                          <a:srgbClr val="FF00FF"/>
                        </a:solidFill>
                      </a:endParaRPr>
                    </a:p>
                  </a:txBody>
                  <a:tcPr marT="91425" marB="91425" marR="91425" marL="91425" anchor="ctr"/>
                </a:tc>
                <a:tc>
                  <a:txBody>
                    <a:bodyPr/>
                    <a:lstStyle/>
                    <a:p>
                      <a:pPr indent="-298450" lvl="0" marL="457200" rtl="0" algn="ctr">
                        <a:spcBef>
                          <a:spcPts val="0"/>
                        </a:spcBef>
                        <a:spcAft>
                          <a:spcPts val="0"/>
                        </a:spcAft>
                        <a:buClr>
                          <a:srgbClr val="FF00FF"/>
                        </a:buClr>
                        <a:buSzPts val="1100"/>
                        <a:buFont typeface="Microsoft JhengHei"/>
                        <a:buChar char="●"/>
                      </a:pPr>
                      <a:r>
                        <a:rPr lang="zh-TW" sz="1100">
                          <a:solidFill>
                            <a:srgbClr val="FF00FF"/>
                          </a:solidFill>
                          <a:highlight>
                            <a:srgbClr val="FFFFFF"/>
                          </a:highlight>
                          <a:uFill>
                            <a:noFill/>
                          </a:uFill>
                          <a:latin typeface="Microsoft JhengHei"/>
                          <a:ea typeface="Microsoft JhengHei"/>
                          <a:cs typeface="Microsoft JhengHei"/>
                          <a:sym typeface="Microsoft JhengHei"/>
                          <a:hlinkClick r:id="rId5">
                            <a:extLst>
                              <a:ext uri="{A12FA001-AC4F-418D-AE19-62706E023703}">
                                <ahyp:hlinkClr val="tx"/>
                              </a:ext>
                            </a:extLst>
                          </a:hlinkClick>
                        </a:rPr>
                        <a:t>老薑切片</a:t>
                      </a:r>
                      <a:endParaRPr sz="1100">
                        <a:solidFill>
                          <a:srgbClr val="FF00FF"/>
                        </a:solidFill>
                      </a:endParaRPr>
                    </a:p>
                  </a:txBody>
                  <a:tcPr marT="91425" marB="91425" marR="91425" marL="91425" anchor="ctr"/>
                </a:tc>
                <a:tc>
                  <a:txBody>
                    <a:bodyPr/>
                    <a:lstStyle/>
                    <a:p>
                      <a:pPr indent="-298450" lvl="0" marL="457200" rtl="0" algn="ctr">
                        <a:spcBef>
                          <a:spcPts val="0"/>
                        </a:spcBef>
                        <a:spcAft>
                          <a:spcPts val="0"/>
                        </a:spcAft>
                        <a:buClr>
                          <a:srgbClr val="FF00FF"/>
                        </a:buClr>
                        <a:buSzPts val="1100"/>
                        <a:buFont typeface="Microsoft JhengHei"/>
                        <a:buChar char="●"/>
                      </a:pPr>
                      <a:r>
                        <a:rPr lang="zh-TW" sz="1100">
                          <a:solidFill>
                            <a:srgbClr val="FF00FF"/>
                          </a:solidFill>
                          <a:highlight>
                            <a:srgbClr val="FFFFFF"/>
                          </a:highlight>
                          <a:latin typeface="Microsoft JhengHei"/>
                          <a:ea typeface="Microsoft JhengHei"/>
                          <a:cs typeface="Microsoft JhengHei"/>
                          <a:sym typeface="Microsoft JhengHei"/>
                        </a:rPr>
                        <a:t>5～6片</a:t>
                      </a:r>
                      <a:endParaRPr sz="1100">
                        <a:solidFill>
                          <a:srgbClr val="FF00FF"/>
                        </a:solidFill>
                      </a:endParaRPr>
                    </a:p>
                  </a:txBody>
                  <a:tcPr marT="91425" marB="91425" marR="91425" marL="91425" anchor="ctr"/>
                </a:tc>
              </a:tr>
              <a:tr h="381000">
                <a:tc>
                  <a:txBody>
                    <a:bodyPr/>
                    <a:lstStyle/>
                    <a:p>
                      <a:pPr indent="-298450" lvl="0" marL="457200" rtl="0" algn="ctr">
                        <a:spcBef>
                          <a:spcPts val="0"/>
                        </a:spcBef>
                        <a:spcAft>
                          <a:spcPts val="0"/>
                        </a:spcAft>
                        <a:buClr>
                          <a:srgbClr val="FF00FF"/>
                        </a:buClr>
                        <a:buSzPts val="1100"/>
                        <a:buFont typeface="Microsoft JhengHei"/>
                        <a:buChar char="●"/>
                      </a:pPr>
                      <a:r>
                        <a:rPr lang="zh-TW" sz="1100">
                          <a:solidFill>
                            <a:srgbClr val="FF00FF"/>
                          </a:solidFill>
                          <a:highlight>
                            <a:srgbClr val="FFFFFF"/>
                          </a:highlight>
                          <a:uFill>
                            <a:noFill/>
                          </a:uFill>
                          <a:latin typeface="Microsoft JhengHei"/>
                          <a:ea typeface="Microsoft JhengHei"/>
                          <a:cs typeface="Microsoft JhengHei"/>
                          <a:sym typeface="Microsoft JhengHei"/>
                          <a:hlinkClick r:id="rId6">
                            <a:extLst>
                              <a:ext uri="{A12FA001-AC4F-418D-AE19-62706E023703}">
                                <ahyp:hlinkClr val="tx"/>
                              </a:ext>
                            </a:extLst>
                          </a:hlinkClick>
                        </a:rPr>
                        <a:t>蒜頭切片</a:t>
                      </a:r>
                      <a:endParaRPr sz="1100">
                        <a:solidFill>
                          <a:srgbClr val="FF00FF"/>
                        </a:solidFill>
                      </a:endParaRPr>
                    </a:p>
                  </a:txBody>
                  <a:tcPr marT="91425" marB="91425" marR="91425" marL="91425" anchor="ctr"/>
                </a:tc>
                <a:tc>
                  <a:txBody>
                    <a:bodyPr/>
                    <a:lstStyle/>
                    <a:p>
                      <a:pPr indent="-298450" lvl="0" marL="457200" marR="101600" rtl="0" algn="ctr">
                        <a:lnSpc>
                          <a:spcPct val="115000"/>
                        </a:lnSpc>
                        <a:spcBef>
                          <a:spcPts val="1100"/>
                        </a:spcBef>
                        <a:spcAft>
                          <a:spcPts val="0"/>
                        </a:spcAft>
                        <a:buClr>
                          <a:srgbClr val="FF00FF"/>
                        </a:buClr>
                        <a:buSzPts val="1100"/>
                        <a:buFont typeface="Microsoft JhengHei"/>
                        <a:buChar char="●"/>
                      </a:pPr>
                      <a:r>
                        <a:rPr lang="zh-TW" sz="1100">
                          <a:solidFill>
                            <a:srgbClr val="FF00FF"/>
                          </a:solidFill>
                          <a:highlight>
                            <a:srgbClr val="FFFFFF"/>
                          </a:highlight>
                          <a:latin typeface="Microsoft JhengHei"/>
                          <a:ea typeface="Microsoft JhengHei"/>
                          <a:cs typeface="Microsoft JhengHei"/>
                          <a:sym typeface="Microsoft JhengHei"/>
                        </a:rPr>
                        <a:t>3～4顆</a:t>
                      </a:r>
                      <a:endParaRPr sz="1100">
                        <a:solidFill>
                          <a:srgbClr val="FF00FF"/>
                        </a:solidFill>
                      </a:endParaRPr>
                    </a:p>
                  </a:txBody>
                  <a:tcPr marT="91425" marB="91425" marR="91425" marL="91425" anchor="ctr"/>
                </a:tc>
                <a:tc>
                  <a:txBody>
                    <a:bodyPr/>
                    <a:lstStyle/>
                    <a:p>
                      <a:pPr indent="-298450" lvl="0" marL="457200" rtl="0" algn="ctr">
                        <a:spcBef>
                          <a:spcPts val="0"/>
                        </a:spcBef>
                        <a:spcAft>
                          <a:spcPts val="0"/>
                        </a:spcAft>
                        <a:buClr>
                          <a:srgbClr val="FF00FF"/>
                        </a:buClr>
                        <a:buSzPts val="1100"/>
                        <a:buFont typeface="Microsoft JhengHei"/>
                        <a:buChar char="●"/>
                      </a:pPr>
                      <a:r>
                        <a:rPr lang="zh-TW" sz="1100">
                          <a:solidFill>
                            <a:srgbClr val="FF00FF"/>
                          </a:solidFill>
                          <a:highlight>
                            <a:srgbClr val="FFFFFF"/>
                          </a:highlight>
                          <a:uFill>
                            <a:noFill/>
                          </a:uFill>
                          <a:latin typeface="Microsoft JhengHei"/>
                          <a:ea typeface="Microsoft JhengHei"/>
                          <a:cs typeface="Microsoft JhengHei"/>
                          <a:sym typeface="Microsoft JhengHei"/>
                          <a:hlinkClick r:id="rId7">
                            <a:extLst>
                              <a:ext uri="{A12FA001-AC4F-418D-AE19-62706E023703}">
                                <ahyp:hlinkClr val="tx"/>
                              </a:ext>
                            </a:extLst>
                          </a:hlinkClick>
                        </a:rPr>
                        <a:t>蒜苗切斜片</a:t>
                      </a:r>
                      <a:endParaRPr sz="1100">
                        <a:solidFill>
                          <a:srgbClr val="FF00FF"/>
                        </a:solidFill>
                      </a:endParaRPr>
                    </a:p>
                  </a:txBody>
                  <a:tcPr marT="91425" marB="91425" marR="91425" marL="91425" anchor="ctr"/>
                </a:tc>
                <a:tc>
                  <a:txBody>
                    <a:bodyPr/>
                    <a:lstStyle/>
                    <a:p>
                      <a:pPr indent="-298450" lvl="0" marL="457200" rtl="0" algn="ctr">
                        <a:spcBef>
                          <a:spcPts val="0"/>
                        </a:spcBef>
                        <a:spcAft>
                          <a:spcPts val="0"/>
                        </a:spcAft>
                        <a:buClr>
                          <a:srgbClr val="FF00FF"/>
                        </a:buClr>
                        <a:buSzPts val="1100"/>
                        <a:buFont typeface="Microsoft JhengHei"/>
                        <a:buChar char="●"/>
                      </a:pPr>
                      <a:r>
                        <a:rPr lang="zh-TW" sz="1100">
                          <a:solidFill>
                            <a:srgbClr val="FF00FF"/>
                          </a:solidFill>
                          <a:highlight>
                            <a:srgbClr val="FFFFFF"/>
                          </a:highlight>
                          <a:latin typeface="Microsoft JhengHei"/>
                          <a:ea typeface="Microsoft JhengHei"/>
                          <a:cs typeface="Microsoft JhengHei"/>
                          <a:sym typeface="Microsoft JhengHei"/>
                        </a:rPr>
                        <a:t>適量</a:t>
                      </a:r>
                      <a:endParaRPr sz="1100">
                        <a:solidFill>
                          <a:srgbClr val="FF00FF"/>
                        </a:solidFill>
                      </a:endParaRPr>
                    </a:p>
                  </a:txBody>
                  <a:tcPr marT="91425" marB="91425" marR="91425" marL="91425" anchor="ctr"/>
                </a:tc>
              </a:tr>
            </a:tbl>
          </a:graphicData>
        </a:graphic>
      </p:graphicFrame>
      <p:graphicFrame>
        <p:nvGraphicFramePr>
          <p:cNvPr id="157" name="Google Shape;157;p24"/>
          <p:cNvGraphicFramePr/>
          <p:nvPr/>
        </p:nvGraphicFramePr>
        <p:xfrm>
          <a:off x="343750" y="1523563"/>
          <a:ext cx="3000000" cy="3000000"/>
        </p:xfrm>
        <a:graphic>
          <a:graphicData uri="http://schemas.openxmlformats.org/drawingml/2006/table">
            <a:tbl>
              <a:tblPr>
                <a:noFill/>
                <a:tableStyleId>{01492ABB-B14B-451E-A26A-50B93598235F}</a:tableStyleId>
              </a:tblPr>
              <a:tblGrid>
                <a:gridCol w="2774600"/>
                <a:gridCol w="2774600"/>
              </a:tblGrid>
              <a:tr h="542125">
                <a:tc>
                  <a:txBody>
                    <a:bodyPr/>
                    <a:lstStyle/>
                    <a:p>
                      <a:pPr indent="-298450" lvl="0" marL="457200" rtl="0" algn="ctr">
                        <a:lnSpc>
                          <a:spcPct val="115000"/>
                        </a:lnSpc>
                        <a:spcBef>
                          <a:spcPts val="0"/>
                        </a:spcBef>
                        <a:spcAft>
                          <a:spcPts val="0"/>
                        </a:spcAft>
                        <a:buClr>
                          <a:srgbClr val="FF00FF"/>
                        </a:buClr>
                        <a:buSzPts val="1100"/>
                        <a:buFont typeface="Microsoft JhengHei"/>
                        <a:buChar char="●"/>
                      </a:pPr>
                      <a:r>
                        <a:rPr lang="zh-TW" sz="1100">
                          <a:solidFill>
                            <a:srgbClr val="FF00FF"/>
                          </a:solidFill>
                          <a:highlight>
                            <a:srgbClr val="FFFFFF"/>
                          </a:highlight>
                          <a:latin typeface="Microsoft JhengHei"/>
                          <a:ea typeface="Microsoft JhengHei"/>
                          <a:cs typeface="Microsoft JhengHei"/>
                          <a:sym typeface="Microsoft JhengHei"/>
                        </a:rPr>
                        <a:t>份量(2 人份)</a:t>
                      </a:r>
                      <a:endParaRPr sz="1100">
                        <a:solidFill>
                          <a:srgbClr val="FF00FF"/>
                        </a:solidFill>
                      </a:endParaRPr>
                    </a:p>
                  </a:txBody>
                  <a:tcPr marT="91425" marB="91425" marR="91425" marL="91425" anchor="ctr"/>
                </a:tc>
                <a:tc>
                  <a:txBody>
                    <a:bodyPr/>
                    <a:lstStyle/>
                    <a:p>
                      <a:pPr indent="-298450" lvl="0" marL="457200" rtl="0" algn="ctr">
                        <a:lnSpc>
                          <a:spcPct val="115000"/>
                        </a:lnSpc>
                        <a:spcBef>
                          <a:spcPts val="0"/>
                        </a:spcBef>
                        <a:spcAft>
                          <a:spcPts val="0"/>
                        </a:spcAft>
                        <a:buClr>
                          <a:srgbClr val="FF00FF"/>
                        </a:buClr>
                        <a:buSzPts val="1100"/>
                        <a:buFont typeface="Microsoft JhengHei"/>
                        <a:buChar char="●"/>
                      </a:pPr>
                      <a:r>
                        <a:rPr lang="zh-TW" sz="1100">
                          <a:solidFill>
                            <a:srgbClr val="FF00FF"/>
                          </a:solidFill>
                          <a:highlight>
                            <a:srgbClr val="FFFFFF"/>
                          </a:highlight>
                          <a:latin typeface="Microsoft JhengHei"/>
                          <a:ea typeface="Microsoft JhengHei"/>
                          <a:cs typeface="Microsoft JhengHei"/>
                          <a:sym typeface="Microsoft JhengHei"/>
                        </a:rPr>
                        <a:t>時間(15 分鐘)</a:t>
                      </a:r>
                      <a:endParaRPr sz="1100">
                        <a:solidFill>
                          <a:srgbClr val="FF00FF"/>
                        </a:solidFill>
                      </a:endParaRPr>
                    </a:p>
                  </a:txBody>
                  <a:tcPr marT="91425" marB="91425" marR="91425" marL="91425" anchor="ctr"/>
                </a:tc>
              </a:tr>
            </a:tbl>
          </a:graphicData>
        </a:graphic>
      </p:graphicFrame>
      <p:graphicFrame>
        <p:nvGraphicFramePr>
          <p:cNvPr id="158" name="Google Shape;158;p24"/>
          <p:cNvGraphicFramePr/>
          <p:nvPr/>
        </p:nvGraphicFramePr>
        <p:xfrm>
          <a:off x="343750" y="2065688"/>
          <a:ext cx="3000000" cy="3000000"/>
        </p:xfrm>
        <a:graphic>
          <a:graphicData uri="http://schemas.openxmlformats.org/drawingml/2006/table">
            <a:tbl>
              <a:tblPr>
                <a:noFill/>
                <a:tableStyleId>{01492ABB-B14B-451E-A26A-50B93598235F}</a:tableStyleId>
              </a:tblPr>
              <a:tblGrid>
                <a:gridCol w="5549200"/>
              </a:tblGrid>
              <a:tr h="411250">
                <a:tc>
                  <a:txBody>
                    <a:bodyPr/>
                    <a:lstStyle/>
                    <a:p>
                      <a:pPr indent="-298450" lvl="0" marL="457200" rtl="0" algn="ctr">
                        <a:lnSpc>
                          <a:spcPct val="115000"/>
                        </a:lnSpc>
                        <a:spcBef>
                          <a:spcPts val="0"/>
                        </a:spcBef>
                        <a:spcAft>
                          <a:spcPts val="0"/>
                        </a:spcAft>
                        <a:buClr>
                          <a:srgbClr val="FF00FF"/>
                        </a:buClr>
                        <a:buSzPts val="1100"/>
                        <a:buFont typeface="Microsoft JhengHei"/>
                        <a:buChar char="●"/>
                      </a:pPr>
                      <a:r>
                        <a:rPr b="1" lang="zh-TW" sz="1100">
                          <a:solidFill>
                            <a:srgbClr val="FF00FF"/>
                          </a:solidFill>
                          <a:latin typeface="Microsoft JhengHei"/>
                          <a:ea typeface="Microsoft JhengHei"/>
                          <a:cs typeface="Microsoft JhengHei"/>
                          <a:sym typeface="Microsoft JhengHei"/>
                        </a:rPr>
                        <a:t>食材</a:t>
                      </a:r>
                      <a:endParaRPr sz="1100">
                        <a:solidFill>
                          <a:srgbClr val="FF00FF"/>
                        </a:solidFill>
                        <a:highlight>
                          <a:srgbClr val="FFFFFF"/>
                        </a:highlight>
                        <a:latin typeface="Microsoft JhengHei"/>
                        <a:ea typeface="Microsoft JhengHei"/>
                        <a:cs typeface="Microsoft JhengHei"/>
                        <a:sym typeface="Microsoft JhengHei"/>
                      </a:endParaRPr>
                    </a:p>
                  </a:txBody>
                  <a:tcPr marT="91425" marB="91425" marR="91425" marL="91425" anchor="ctr"/>
                </a:tc>
              </a:tr>
            </a:tbl>
          </a:graphicData>
        </a:graphic>
      </p:graphicFrame>
      <p:graphicFrame>
        <p:nvGraphicFramePr>
          <p:cNvPr id="159" name="Google Shape;159;p24"/>
          <p:cNvGraphicFramePr/>
          <p:nvPr/>
        </p:nvGraphicFramePr>
        <p:xfrm>
          <a:off x="343750" y="3238938"/>
          <a:ext cx="3000000" cy="3000000"/>
        </p:xfrm>
        <a:graphic>
          <a:graphicData uri="http://schemas.openxmlformats.org/drawingml/2006/table">
            <a:tbl>
              <a:tblPr>
                <a:noFill/>
                <a:tableStyleId>{01492ABB-B14B-451E-A26A-50B93598235F}</a:tableStyleId>
              </a:tblPr>
              <a:tblGrid>
                <a:gridCol w="5549200"/>
              </a:tblGrid>
              <a:tr h="381000">
                <a:tc>
                  <a:txBody>
                    <a:bodyPr/>
                    <a:lstStyle/>
                    <a:p>
                      <a:pPr indent="-298450" lvl="0" marL="457200" rtl="0" algn="ctr">
                        <a:spcBef>
                          <a:spcPts val="0"/>
                        </a:spcBef>
                        <a:spcAft>
                          <a:spcPts val="0"/>
                        </a:spcAft>
                        <a:buClr>
                          <a:srgbClr val="FF00FF"/>
                        </a:buClr>
                        <a:buSzPts val="1100"/>
                        <a:buFont typeface="Microsoft JhengHei"/>
                        <a:buChar char="●"/>
                      </a:pPr>
                      <a:r>
                        <a:rPr lang="zh-TW" sz="1100">
                          <a:solidFill>
                            <a:srgbClr val="FF00FF"/>
                          </a:solidFill>
                          <a:highlight>
                            <a:srgbClr val="D8F0D8"/>
                          </a:highlight>
                          <a:latin typeface="Microsoft JhengHei"/>
                          <a:ea typeface="Microsoft JhengHei"/>
                          <a:cs typeface="Microsoft JhengHei"/>
                          <a:sym typeface="Microsoft JhengHei"/>
                        </a:rPr>
                        <a:t>調味料</a:t>
                      </a:r>
                      <a:endParaRPr sz="1100">
                        <a:solidFill>
                          <a:srgbClr val="FF00FF"/>
                        </a:solidFill>
                      </a:endParaRPr>
                    </a:p>
                  </a:txBody>
                  <a:tcPr marT="91425" marB="91425" marR="91425" marL="91425" anchor="ctr"/>
                </a:tc>
              </a:tr>
            </a:tbl>
          </a:graphicData>
        </a:graphic>
      </p:graphicFrame>
      <p:graphicFrame>
        <p:nvGraphicFramePr>
          <p:cNvPr id="160" name="Google Shape;160;p24"/>
          <p:cNvGraphicFramePr/>
          <p:nvPr/>
        </p:nvGraphicFramePr>
        <p:xfrm>
          <a:off x="343750" y="3619950"/>
          <a:ext cx="3000000" cy="3000000"/>
        </p:xfrm>
        <a:graphic>
          <a:graphicData uri="http://schemas.openxmlformats.org/drawingml/2006/table">
            <a:tbl>
              <a:tblPr>
                <a:noFill/>
                <a:tableStyleId>{01492ABB-B14B-451E-A26A-50B93598235F}</a:tableStyleId>
              </a:tblPr>
              <a:tblGrid>
                <a:gridCol w="1387300"/>
                <a:gridCol w="1387300"/>
                <a:gridCol w="1387300"/>
                <a:gridCol w="1387300"/>
              </a:tblGrid>
              <a:tr h="100000">
                <a:tc>
                  <a:txBody>
                    <a:bodyPr/>
                    <a:lstStyle/>
                    <a:p>
                      <a:pPr indent="-298450" lvl="0" marL="457200" rtl="0" algn="ctr">
                        <a:spcBef>
                          <a:spcPts val="0"/>
                        </a:spcBef>
                        <a:spcAft>
                          <a:spcPts val="0"/>
                        </a:spcAft>
                        <a:buClr>
                          <a:srgbClr val="FF00FF"/>
                        </a:buClr>
                        <a:buSzPts val="1100"/>
                        <a:buFont typeface="Microsoft JhengHei"/>
                        <a:buChar char="●"/>
                      </a:pPr>
                      <a:r>
                        <a:rPr lang="zh-TW" sz="1100">
                          <a:solidFill>
                            <a:srgbClr val="FF00FF"/>
                          </a:solidFill>
                          <a:highlight>
                            <a:srgbClr val="FFFFFF"/>
                          </a:highlight>
                          <a:uFill>
                            <a:noFill/>
                          </a:uFill>
                          <a:latin typeface="Microsoft JhengHei"/>
                          <a:ea typeface="Microsoft JhengHei"/>
                          <a:cs typeface="Microsoft JhengHei"/>
                          <a:sym typeface="Microsoft JhengHei"/>
                          <a:hlinkClick r:id="rId8">
                            <a:extLst>
                              <a:ext uri="{A12FA001-AC4F-418D-AE19-62706E023703}">
                                <ahyp:hlinkClr val="tx"/>
                              </a:ext>
                            </a:extLst>
                          </a:hlinkClick>
                        </a:rPr>
                        <a:t>麻油</a:t>
                      </a:r>
                      <a:endParaRPr sz="1100">
                        <a:solidFill>
                          <a:srgbClr val="FF00FF"/>
                        </a:solidFill>
                      </a:endParaRPr>
                    </a:p>
                  </a:txBody>
                  <a:tcPr marT="91425" marB="91425" marR="91425" marL="91425" anchor="ctr"/>
                </a:tc>
                <a:tc>
                  <a:txBody>
                    <a:bodyPr/>
                    <a:lstStyle/>
                    <a:p>
                      <a:pPr indent="-298450" lvl="0" marL="457200" rtl="0" algn="ctr">
                        <a:spcBef>
                          <a:spcPts val="0"/>
                        </a:spcBef>
                        <a:spcAft>
                          <a:spcPts val="0"/>
                        </a:spcAft>
                        <a:buClr>
                          <a:srgbClr val="FF00FF"/>
                        </a:buClr>
                        <a:buSzPts val="1100"/>
                        <a:buFont typeface="Microsoft JhengHei"/>
                        <a:buChar char="●"/>
                      </a:pPr>
                      <a:r>
                        <a:rPr lang="zh-TW" sz="1100">
                          <a:solidFill>
                            <a:srgbClr val="FF00FF"/>
                          </a:solidFill>
                          <a:highlight>
                            <a:srgbClr val="FFFFFF"/>
                          </a:highlight>
                          <a:latin typeface="Microsoft JhengHei"/>
                          <a:ea typeface="Microsoft JhengHei"/>
                          <a:cs typeface="Microsoft JhengHei"/>
                          <a:sym typeface="Microsoft JhengHei"/>
                        </a:rPr>
                        <a:t>2大匙</a:t>
                      </a:r>
                      <a:endParaRPr sz="1100">
                        <a:solidFill>
                          <a:srgbClr val="FF00FF"/>
                        </a:solidFill>
                      </a:endParaRPr>
                    </a:p>
                  </a:txBody>
                  <a:tcPr marT="91425" marB="91425" marR="91425" marL="91425" anchor="ctr"/>
                </a:tc>
                <a:tc>
                  <a:txBody>
                    <a:bodyPr/>
                    <a:lstStyle/>
                    <a:p>
                      <a:pPr indent="-298450" lvl="0" marL="457200" rtl="0" algn="ctr">
                        <a:spcBef>
                          <a:spcPts val="0"/>
                        </a:spcBef>
                        <a:spcAft>
                          <a:spcPts val="0"/>
                        </a:spcAft>
                        <a:buClr>
                          <a:srgbClr val="FF00FF"/>
                        </a:buClr>
                        <a:buSzPts val="1100"/>
                        <a:buFont typeface="Microsoft JhengHei"/>
                        <a:buChar char="●"/>
                      </a:pPr>
                      <a:r>
                        <a:rPr lang="zh-TW" sz="1100">
                          <a:solidFill>
                            <a:srgbClr val="FF00FF"/>
                          </a:solidFill>
                          <a:highlight>
                            <a:srgbClr val="FFFFFF"/>
                          </a:highlight>
                          <a:uFill>
                            <a:noFill/>
                          </a:uFill>
                          <a:latin typeface="Microsoft JhengHei"/>
                          <a:ea typeface="Microsoft JhengHei"/>
                          <a:cs typeface="Microsoft JhengHei"/>
                          <a:sym typeface="Microsoft JhengHei"/>
                          <a:hlinkClick r:id="rId9">
                            <a:extLst>
                              <a:ext uri="{A12FA001-AC4F-418D-AE19-62706E023703}">
                                <ahyp:hlinkClr val="tx"/>
                              </a:ext>
                            </a:extLst>
                          </a:hlinkClick>
                        </a:rPr>
                        <a:t>葵花油（或橄欖油）</a:t>
                      </a:r>
                      <a:endParaRPr sz="1100">
                        <a:solidFill>
                          <a:srgbClr val="FF00FF"/>
                        </a:solidFill>
                      </a:endParaRPr>
                    </a:p>
                  </a:txBody>
                  <a:tcPr marT="91425" marB="91425" marR="91425" marL="91425" anchor="ctr"/>
                </a:tc>
                <a:tc>
                  <a:txBody>
                    <a:bodyPr/>
                    <a:lstStyle/>
                    <a:p>
                      <a:pPr indent="-298450" lvl="0" marL="457200" rtl="0" algn="ctr">
                        <a:spcBef>
                          <a:spcPts val="0"/>
                        </a:spcBef>
                        <a:spcAft>
                          <a:spcPts val="0"/>
                        </a:spcAft>
                        <a:buClr>
                          <a:srgbClr val="FF00FF"/>
                        </a:buClr>
                        <a:buSzPts val="1100"/>
                        <a:buFont typeface="Microsoft JhengHei"/>
                        <a:buChar char="●"/>
                      </a:pPr>
                      <a:r>
                        <a:rPr lang="zh-TW" sz="1100">
                          <a:solidFill>
                            <a:srgbClr val="FF00FF"/>
                          </a:solidFill>
                          <a:highlight>
                            <a:srgbClr val="FFFFFF"/>
                          </a:highlight>
                          <a:latin typeface="Microsoft JhengHei"/>
                          <a:ea typeface="Microsoft JhengHei"/>
                          <a:cs typeface="Microsoft JhengHei"/>
                          <a:sym typeface="Microsoft JhengHei"/>
                        </a:rPr>
                        <a:t>1大匙</a:t>
                      </a:r>
                      <a:endParaRPr sz="1100">
                        <a:solidFill>
                          <a:srgbClr val="FF00FF"/>
                        </a:solidFill>
                        <a:highlight>
                          <a:srgbClr val="FFFFFF"/>
                        </a:highlight>
                        <a:latin typeface="Microsoft JhengHei"/>
                        <a:ea typeface="Microsoft JhengHei"/>
                        <a:cs typeface="Microsoft JhengHei"/>
                        <a:sym typeface="Microsoft JhengHei"/>
                      </a:endParaRPr>
                    </a:p>
                  </a:txBody>
                  <a:tcPr marT="91425" marB="91425" marR="91425" marL="91425" anchor="ctr"/>
                </a:tc>
              </a:tr>
              <a:tr h="381000">
                <a:tc>
                  <a:txBody>
                    <a:bodyPr/>
                    <a:lstStyle/>
                    <a:p>
                      <a:pPr indent="-298450" lvl="0" marL="457200" rtl="0" algn="ctr">
                        <a:spcBef>
                          <a:spcPts val="0"/>
                        </a:spcBef>
                        <a:spcAft>
                          <a:spcPts val="0"/>
                        </a:spcAft>
                        <a:buClr>
                          <a:srgbClr val="FF00FF"/>
                        </a:buClr>
                        <a:buSzPts val="1100"/>
                        <a:buFont typeface="Microsoft JhengHei"/>
                        <a:buChar char="●"/>
                      </a:pPr>
                      <a:r>
                        <a:rPr lang="zh-TW" sz="1100">
                          <a:solidFill>
                            <a:srgbClr val="FF00FF"/>
                          </a:solidFill>
                          <a:highlight>
                            <a:srgbClr val="FFFFFF"/>
                          </a:highlight>
                          <a:uFill>
                            <a:noFill/>
                          </a:uFill>
                          <a:latin typeface="Microsoft JhengHei"/>
                          <a:ea typeface="Microsoft JhengHei"/>
                          <a:cs typeface="Microsoft JhengHei"/>
                          <a:sym typeface="Microsoft JhengHei"/>
                          <a:hlinkClick r:id="rId10">
                            <a:extLst>
                              <a:ext uri="{A12FA001-AC4F-418D-AE19-62706E023703}">
                                <ahyp:hlinkClr val="tx"/>
                              </a:ext>
                            </a:extLst>
                          </a:hlinkClick>
                        </a:rPr>
                        <a:t>米酒</a:t>
                      </a:r>
                      <a:endParaRPr sz="1100">
                        <a:solidFill>
                          <a:srgbClr val="FF00FF"/>
                        </a:solidFill>
                      </a:endParaRPr>
                    </a:p>
                  </a:txBody>
                  <a:tcPr marT="91425" marB="91425" marR="91425" marL="91425" anchor="ctr"/>
                </a:tc>
                <a:tc>
                  <a:txBody>
                    <a:bodyPr/>
                    <a:lstStyle/>
                    <a:p>
                      <a:pPr indent="-298450" lvl="0" marL="457200" rtl="0" algn="ctr">
                        <a:spcBef>
                          <a:spcPts val="0"/>
                        </a:spcBef>
                        <a:spcAft>
                          <a:spcPts val="0"/>
                        </a:spcAft>
                        <a:buClr>
                          <a:srgbClr val="FF00FF"/>
                        </a:buClr>
                        <a:buSzPts val="1100"/>
                        <a:buFont typeface="Microsoft JhengHei"/>
                        <a:buChar char="●"/>
                      </a:pPr>
                      <a:r>
                        <a:rPr lang="zh-TW" sz="1100">
                          <a:solidFill>
                            <a:srgbClr val="FF00FF"/>
                          </a:solidFill>
                          <a:highlight>
                            <a:srgbClr val="FFFFFF"/>
                          </a:highlight>
                          <a:latin typeface="Microsoft JhengHei"/>
                          <a:ea typeface="Microsoft JhengHei"/>
                          <a:cs typeface="Microsoft JhengHei"/>
                          <a:sym typeface="Microsoft JhengHei"/>
                        </a:rPr>
                        <a:t>2大匙</a:t>
                      </a:r>
                      <a:endParaRPr sz="1100">
                        <a:solidFill>
                          <a:srgbClr val="FF00FF"/>
                        </a:solidFill>
                      </a:endParaRPr>
                    </a:p>
                  </a:txBody>
                  <a:tcPr marT="91425" marB="91425" marR="91425" marL="91425" anchor="ctr"/>
                </a:tc>
                <a:tc>
                  <a:txBody>
                    <a:bodyPr/>
                    <a:lstStyle/>
                    <a:p>
                      <a:pPr indent="-298450" lvl="0" marL="457200" marR="101600" rtl="0" algn="ctr">
                        <a:lnSpc>
                          <a:spcPct val="115000"/>
                        </a:lnSpc>
                        <a:spcBef>
                          <a:spcPts val="1100"/>
                        </a:spcBef>
                        <a:spcAft>
                          <a:spcPts val="0"/>
                        </a:spcAft>
                        <a:buClr>
                          <a:srgbClr val="FF00FF"/>
                        </a:buClr>
                        <a:buSzPts val="1100"/>
                        <a:buFont typeface="Microsoft JhengHei"/>
                        <a:buChar char="●"/>
                      </a:pPr>
                      <a:r>
                        <a:rPr lang="zh-TW" sz="1100">
                          <a:solidFill>
                            <a:srgbClr val="FF00FF"/>
                          </a:solidFill>
                          <a:highlight>
                            <a:srgbClr val="FFFFFF"/>
                          </a:highlight>
                          <a:uFill>
                            <a:noFill/>
                          </a:uFill>
                          <a:latin typeface="Microsoft JhengHei"/>
                          <a:ea typeface="Microsoft JhengHei"/>
                          <a:cs typeface="Microsoft JhengHei"/>
                          <a:sym typeface="Microsoft JhengHei"/>
                          <a:hlinkClick r:id="rId11">
                            <a:extLst>
                              <a:ext uri="{A12FA001-AC4F-418D-AE19-62706E023703}">
                                <ahyp:hlinkClr val="tx"/>
                              </a:ext>
                            </a:extLst>
                          </a:hlinkClick>
                        </a:rPr>
                        <a:t>醬油</a:t>
                      </a:r>
                      <a:endParaRPr sz="1100">
                        <a:solidFill>
                          <a:srgbClr val="FF00FF"/>
                        </a:solidFill>
                      </a:endParaRPr>
                    </a:p>
                  </a:txBody>
                  <a:tcPr marT="91425" marB="91425" marR="91425" marL="91425" anchor="ctr"/>
                </a:tc>
                <a:tc>
                  <a:txBody>
                    <a:bodyPr/>
                    <a:lstStyle/>
                    <a:p>
                      <a:pPr indent="-298450" lvl="0" marL="457200" marR="254000" rtl="0" algn="ctr">
                        <a:lnSpc>
                          <a:spcPct val="115000"/>
                        </a:lnSpc>
                        <a:spcBef>
                          <a:spcPts val="2000"/>
                        </a:spcBef>
                        <a:spcAft>
                          <a:spcPts val="0"/>
                        </a:spcAft>
                        <a:buClr>
                          <a:srgbClr val="FF00FF"/>
                        </a:buClr>
                        <a:buSzPts val="1100"/>
                        <a:buChar char="●"/>
                      </a:pPr>
                      <a:r>
                        <a:rPr lang="zh-TW" sz="1100">
                          <a:solidFill>
                            <a:srgbClr val="FF00FF"/>
                          </a:solidFill>
                          <a:highlight>
                            <a:srgbClr val="FFFFFF"/>
                          </a:highlight>
                        </a:rPr>
                        <a:t>2小匙</a:t>
                      </a:r>
                      <a:endParaRPr sz="1100">
                        <a:solidFill>
                          <a:srgbClr val="FF00FF"/>
                        </a:solidFill>
                      </a:endParaRPr>
                    </a:p>
                  </a:txBody>
                  <a:tcPr marT="91425" marB="91425" marR="91425" marL="91425" anchor="ct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
                                        </p:tgtEl>
                                        <p:attrNameLst>
                                          <p:attrName>style.visibility</p:attrName>
                                        </p:attrNameLst>
                                      </p:cBhvr>
                                      <p:to>
                                        <p:strVal val="visible"/>
                                      </p:to>
                                    </p:set>
                                    <p:animEffect filter="fade" transition="in">
                                      <p:cBhvr>
                                        <p:cTn dur="1000"/>
                                        <p:tgtEl>
                                          <p:spTgt spid="1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57"/>
                                        </p:tgtEl>
                                        <p:attrNameLst>
                                          <p:attrName>style.visibility</p:attrName>
                                        </p:attrNameLst>
                                      </p:cBhvr>
                                      <p:to>
                                        <p:strVal val="visible"/>
                                      </p:to>
                                    </p:set>
                                    <p:anim calcmode="lin" valueType="num">
                                      <p:cBhvr additive="base">
                                        <p:cTn dur="1000"/>
                                        <p:tgtEl>
                                          <p:spTgt spid="157"/>
                                        </p:tgtEl>
                                        <p:attrNameLst>
                                          <p:attrName>ppt_w</p:attrName>
                                        </p:attrNameLst>
                                      </p:cBhvr>
                                      <p:tavLst>
                                        <p:tav fmla="" tm="0">
                                          <p:val>
                                            <p:strVal val="0"/>
                                          </p:val>
                                        </p:tav>
                                        <p:tav fmla="" tm="100000">
                                          <p:val>
                                            <p:strVal val="#ppt_w"/>
                                          </p:val>
                                        </p:tav>
                                      </p:tavLst>
                                    </p:anim>
                                    <p:anim calcmode="lin" valueType="num">
                                      <p:cBhvr additive="base">
                                        <p:cTn dur="1000"/>
                                        <p:tgtEl>
                                          <p:spTgt spid="15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58"/>
                                        </p:tgtEl>
                                        <p:attrNameLst>
                                          <p:attrName>style.visibility</p:attrName>
                                        </p:attrNameLst>
                                      </p:cBhvr>
                                      <p:to>
                                        <p:strVal val="visible"/>
                                      </p:to>
                                    </p:set>
                                    <p:anim calcmode="lin" valueType="num">
                                      <p:cBhvr additive="base">
                                        <p:cTn dur="1000"/>
                                        <p:tgtEl>
                                          <p:spTgt spid="158"/>
                                        </p:tgtEl>
                                        <p:attrNameLst>
                                          <p:attrName>ppt_w</p:attrName>
                                        </p:attrNameLst>
                                      </p:cBhvr>
                                      <p:tavLst>
                                        <p:tav fmla="" tm="0">
                                          <p:val>
                                            <p:strVal val="0"/>
                                          </p:val>
                                        </p:tav>
                                        <p:tav fmla="" tm="100000">
                                          <p:val>
                                            <p:strVal val="#ppt_w"/>
                                          </p:val>
                                        </p:tav>
                                      </p:tavLst>
                                    </p:anim>
                                    <p:anim calcmode="lin" valueType="num">
                                      <p:cBhvr additive="base">
                                        <p:cTn dur="1000"/>
                                        <p:tgtEl>
                                          <p:spTgt spid="15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gtEl>
                                        <p:attrNameLst>
                                          <p:attrName>style.visibility</p:attrName>
                                        </p:attrNameLst>
                                      </p:cBhvr>
                                      <p:to>
                                        <p:strVal val="visible"/>
                                      </p:to>
                                    </p:set>
                                    <p:animEffect filter="fade" transition="in">
                                      <p:cBhvr>
                                        <p:cTn dur="1000"/>
                                        <p:tgtEl>
                                          <p:spTgt spid="1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59"/>
                                        </p:tgtEl>
                                        <p:attrNameLst>
                                          <p:attrName>style.visibility</p:attrName>
                                        </p:attrNameLst>
                                      </p:cBhvr>
                                      <p:to>
                                        <p:strVal val="visible"/>
                                      </p:to>
                                    </p:set>
                                    <p:anim calcmode="lin" valueType="num">
                                      <p:cBhvr additive="base">
                                        <p:cTn dur="1000"/>
                                        <p:tgtEl>
                                          <p:spTgt spid="15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60"/>
                                        </p:tgtEl>
                                        <p:attrNameLst>
                                          <p:attrName>style.visibility</p:attrName>
                                        </p:attrNameLst>
                                      </p:cBhvr>
                                      <p:to>
                                        <p:strVal val="visible"/>
                                      </p:to>
                                    </p:set>
                                    <p:anim calcmode="lin" valueType="num">
                                      <p:cBhvr additive="base">
                                        <p:cTn dur="1000"/>
                                        <p:tgtEl>
                                          <p:spTgt spid="16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gtEl>
                                        <p:attrNameLst>
                                          <p:attrName>style.visibility</p:attrName>
                                        </p:attrNameLst>
                                      </p:cBhvr>
                                      <p:to>
                                        <p:strVal val="visible"/>
                                      </p:to>
                                    </p:set>
                                    <p:animEffect filter="fade" transition="in">
                                      <p:cBhvr>
                                        <p:cTn dur="1000"/>
                                        <p:tgtEl>
                                          <p:spTgt spid="1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5"/>
          <p:cNvSpPr txBox="1"/>
          <p:nvPr/>
        </p:nvSpPr>
        <p:spPr>
          <a:xfrm>
            <a:off x="3148200" y="604375"/>
            <a:ext cx="5961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66" name="Google Shape;166;p25"/>
          <p:cNvSpPr txBox="1"/>
          <p:nvPr/>
        </p:nvSpPr>
        <p:spPr>
          <a:xfrm>
            <a:off x="2631750" y="0"/>
            <a:ext cx="3880500" cy="2051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zh-TW" sz="7200">
                <a:solidFill>
                  <a:srgbClr val="3C78D8"/>
                </a:solidFill>
                <a:latin typeface="Roboto"/>
                <a:ea typeface="Roboto"/>
                <a:cs typeface="Roboto"/>
                <a:sym typeface="Roboto"/>
              </a:rPr>
              <a:t>謝謝大家</a:t>
            </a:r>
            <a:endParaRPr sz="7200">
              <a:solidFill>
                <a:srgbClr val="3C78D8"/>
              </a:solidFill>
              <a:latin typeface="Roboto"/>
              <a:ea typeface="Roboto"/>
              <a:cs typeface="Roboto"/>
              <a:sym typeface="Roboto"/>
            </a:endParaRPr>
          </a:p>
        </p:txBody>
      </p:sp>
      <p:pic>
        <p:nvPicPr>
          <p:cNvPr id="167" name="Google Shape;167;p25"/>
          <p:cNvPicPr preferRelativeResize="0"/>
          <p:nvPr/>
        </p:nvPicPr>
        <p:blipFill>
          <a:blip r:embed="rId3">
            <a:alphaModFix/>
          </a:blip>
          <a:stretch>
            <a:fillRect/>
          </a:stretch>
        </p:blipFill>
        <p:spPr>
          <a:xfrm>
            <a:off x="2210688" y="1563300"/>
            <a:ext cx="4722625" cy="3246050"/>
          </a:xfrm>
          <a:prstGeom prst="rect">
            <a:avLst/>
          </a:prstGeom>
          <a:noFill/>
          <a:ln>
            <a:noFill/>
          </a:ln>
        </p:spPr>
      </p:pic>
      <p:pic>
        <p:nvPicPr>
          <p:cNvPr id="168" name="Google Shape;168;p25"/>
          <p:cNvPicPr preferRelativeResize="0"/>
          <p:nvPr/>
        </p:nvPicPr>
        <p:blipFill>
          <a:blip r:embed="rId4">
            <a:alphaModFix/>
          </a:blip>
          <a:stretch>
            <a:fillRect/>
          </a:stretch>
        </p:blipFill>
        <p:spPr>
          <a:xfrm>
            <a:off x="6328925" y="1596425"/>
            <a:ext cx="604375" cy="6043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